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8" r:id="rId3"/>
    <p:sldId id="257" r:id="rId4"/>
    <p:sldId id="259" r:id="rId5"/>
    <p:sldId id="268" r:id="rId6"/>
    <p:sldId id="267" r:id="rId7"/>
    <p:sldId id="265" r:id="rId8"/>
    <p:sldId id="261" r:id="rId9"/>
    <p:sldId id="266" r:id="rId10"/>
    <p:sldId id="263" r:id="rId11"/>
    <p:sldId id="260" r:id="rId12"/>
    <p:sldId id="264"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648"/>
    <p:restoredTop sz="75397"/>
  </p:normalViewPr>
  <p:slideViewPr>
    <p:cSldViewPr snapToGrid="0">
      <p:cViewPr varScale="1">
        <p:scale>
          <a:sx n="80" d="100"/>
          <a:sy n="80" d="100"/>
        </p:scale>
        <p:origin x="14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3E8B27-24C6-1B44-81AD-9F85D58833FF}" type="datetimeFigureOut">
              <a:rPr lang="en-US" smtClean="0"/>
              <a:t>4/23/26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0D2FC8-C3E3-014C-B653-D02FC524AB92}" type="slidenum">
              <a:rPr lang="en-US" smtClean="0"/>
              <a:t>‹#›</a:t>
            </a:fld>
            <a:endParaRPr lang="en-US"/>
          </a:p>
        </p:txBody>
      </p:sp>
    </p:spTree>
    <p:extLst>
      <p:ext uri="{BB962C8B-B14F-4D97-AF65-F5344CB8AC3E}">
        <p14:creationId xmlns:p14="http://schemas.microsoft.com/office/powerpoint/2010/main" val="631591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0D2FC8-C3E3-014C-B653-D02FC524AB92}" type="slidenum">
              <a:rPr lang="en-US" smtClean="0"/>
              <a:t>1</a:t>
            </a:fld>
            <a:endParaRPr lang="en-US"/>
          </a:p>
        </p:txBody>
      </p:sp>
    </p:spTree>
    <p:extLst>
      <p:ext uri="{BB962C8B-B14F-4D97-AF65-F5344CB8AC3E}">
        <p14:creationId xmlns:p14="http://schemas.microsoft.com/office/powerpoint/2010/main" val="9679710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0D2FC8-C3E3-014C-B653-D02FC524AB92}" type="slidenum">
              <a:rPr lang="en-US" smtClean="0"/>
              <a:t>2</a:t>
            </a:fld>
            <a:endParaRPr lang="en-US"/>
          </a:p>
        </p:txBody>
      </p:sp>
    </p:spTree>
    <p:extLst>
      <p:ext uri="{BB962C8B-B14F-4D97-AF65-F5344CB8AC3E}">
        <p14:creationId xmlns:p14="http://schemas.microsoft.com/office/powerpoint/2010/main" val="29168123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1. We set the background-color to cream.</a:t>
            </a:r>
            <a:br>
              <a:rPr lang="en-US" sz="1200" dirty="0"/>
            </a:br>
            <a:r>
              <a:rPr lang="en-US" sz="1200" dirty="0"/>
              <a:t>2. We set the header color to pink.</a:t>
            </a:r>
            <a:br>
              <a:rPr lang="en-US" sz="1200" dirty="0"/>
            </a:br>
            <a:r>
              <a:rPr lang="en-US" sz="1200" dirty="0"/>
              <a:t>3. All elements with the ”</a:t>
            </a:r>
            <a:r>
              <a:rPr lang="en-US" sz="1200" dirty="0" err="1"/>
              <a:t>classExample</a:t>
            </a:r>
            <a:r>
              <a:rPr lang="en-US" sz="1200" dirty="0"/>
              <a:t>” class will have font size 24 and the blue color.</a:t>
            </a:r>
            <a:br>
              <a:rPr lang="en-US" sz="1200" dirty="0"/>
            </a:br>
            <a:r>
              <a:rPr lang="en-US" sz="1200" dirty="0"/>
              <a:t>4. We changed the type of font for individual </a:t>
            </a:r>
            <a:r>
              <a:rPr lang="en-US" sz="1200" dirty="0" err="1"/>
              <a:t>divs</a:t>
            </a:r>
            <a:r>
              <a:rPr lang="en-US" sz="1200" dirty="0"/>
              <a:t> with their own id.</a:t>
            </a:r>
          </a:p>
          <a:p>
            <a:endParaRPr lang="en-US" dirty="0"/>
          </a:p>
        </p:txBody>
      </p:sp>
      <p:sp>
        <p:nvSpPr>
          <p:cNvPr id="4" name="Slide Number Placeholder 3"/>
          <p:cNvSpPr>
            <a:spLocks noGrp="1"/>
          </p:cNvSpPr>
          <p:nvPr>
            <p:ph type="sldNum" sz="quarter" idx="5"/>
          </p:nvPr>
        </p:nvSpPr>
        <p:spPr/>
        <p:txBody>
          <a:bodyPr/>
          <a:lstStyle/>
          <a:p>
            <a:fld id="{F40D2FC8-C3E3-014C-B653-D02FC524AB92}" type="slidenum">
              <a:rPr lang="en-US" smtClean="0"/>
              <a:t>7</a:t>
            </a:fld>
            <a:endParaRPr lang="en-US"/>
          </a:p>
        </p:txBody>
      </p:sp>
    </p:spTree>
    <p:extLst>
      <p:ext uri="{BB962C8B-B14F-4D97-AF65-F5344CB8AC3E}">
        <p14:creationId xmlns:p14="http://schemas.microsoft.com/office/powerpoint/2010/main" val="10792254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0D2FC8-C3E3-014C-B653-D02FC524AB92}" type="slidenum">
              <a:rPr lang="en-US" smtClean="0"/>
              <a:t>9</a:t>
            </a:fld>
            <a:endParaRPr lang="en-US"/>
          </a:p>
        </p:txBody>
      </p:sp>
    </p:spTree>
    <p:extLst>
      <p:ext uri="{BB962C8B-B14F-4D97-AF65-F5344CB8AC3E}">
        <p14:creationId xmlns:p14="http://schemas.microsoft.com/office/powerpoint/2010/main" val="6314938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0D2FC8-C3E3-014C-B653-D02FC524AB92}" type="slidenum">
              <a:rPr lang="en-US" smtClean="0"/>
              <a:t>12</a:t>
            </a:fld>
            <a:endParaRPr lang="en-US"/>
          </a:p>
        </p:txBody>
      </p:sp>
    </p:spTree>
    <p:extLst>
      <p:ext uri="{BB962C8B-B14F-4D97-AF65-F5344CB8AC3E}">
        <p14:creationId xmlns:p14="http://schemas.microsoft.com/office/powerpoint/2010/main" val="8766590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0D2FC8-C3E3-014C-B653-D02FC524AB92}" type="slidenum">
              <a:rPr lang="en-US" smtClean="0"/>
              <a:t>13</a:t>
            </a:fld>
            <a:endParaRPr lang="en-US"/>
          </a:p>
        </p:txBody>
      </p:sp>
    </p:spTree>
    <p:extLst>
      <p:ext uri="{BB962C8B-B14F-4D97-AF65-F5344CB8AC3E}">
        <p14:creationId xmlns:p14="http://schemas.microsoft.com/office/powerpoint/2010/main" val="14927149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5C52C-B2DC-76B2-64FE-45010F902AD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928B15A-9B68-0E2E-FF28-AEDF7791FF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9D1391-D091-072A-3E5F-309BCEB1201D}"/>
              </a:ext>
            </a:extLst>
          </p:cNvPr>
          <p:cNvSpPr>
            <a:spLocks noGrp="1"/>
          </p:cNvSpPr>
          <p:nvPr>
            <p:ph type="dt" sz="half" idx="10"/>
          </p:nvPr>
        </p:nvSpPr>
        <p:spPr/>
        <p:txBody>
          <a:bodyPr/>
          <a:lstStyle/>
          <a:p>
            <a:fld id="{F78284CE-8D52-1A4B-90C9-EAE6C9B62E37}" type="datetimeFigureOut">
              <a:rPr lang="en-US" smtClean="0"/>
              <a:t>4/23/26</a:t>
            </a:fld>
            <a:endParaRPr lang="en-US"/>
          </a:p>
        </p:txBody>
      </p:sp>
      <p:sp>
        <p:nvSpPr>
          <p:cNvPr id="5" name="Footer Placeholder 4">
            <a:extLst>
              <a:ext uri="{FF2B5EF4-FFF2-40B4-BE49-F238E27FC236}">
                <a16:creationId xmlns:a16="http://schemas.microsoft.com/office/drawing/2014/main" id="{9CB3B96F-281C-2940-42D5-4C8A9DFF32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A84C2C-CBF6-4B9E-3E50-34C4E126671D}"/>
              </a:ext>
            </a:extLst>
          </p:cNvPr>
          <p:cNvSpPr>
            <a:spLocks noGrp="1"/>
          </p:cNvSpPr>
          <p:nvPr>
            <p:ph type="sldNum" sz="quarter" idx="12"/>
          </p:nvPr>
        </p:nvSpPr>
        <p:spPr/>
        <p:txBody>
          <a:bodyPr/>
          <a:lstStyle/>
          <a:p>
            <a:fld id="{DDF123E8-9E98-2846-8642-AF4CD5DB0982}" type="slidenum">
              <a:rPr lang="en-US" smtClean="0"/>
              <a:t>‹#›</a:t>
            </a:fld>
            <a:endParaRPr lang="en-US"/>
          </a:p>
        </p:txBody>
      </p:sp>
    </p:spTree>
    <p:extLst>
      <p:ext uri="{BB962C8B-B14F-4D97-AF65-F5344CB8AC3E}">
        <p14:creationId xmlns:p14="http://schemas.microsoft.com/office/powerpoint/2010/main" val="618107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BFAAE-A30E-5E73-4ABC-E86F86C4A7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A539FE-BA36-5100-252B-FB59672DD7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25C909-54C2-D5D5-19E8-D09205E4F28C}"/>
              </a:ext>
            </a:extLst>
          </p:cNvPr>
          <p:cNvSpPr>
            <a:spLocks noGrp="1"/>
          </p:cNvSpPr>
          <p:nvPr>
            <p:ph type="dt" sz="half" idx="10"/>
          </p:nvPr>
        </p:nvSpPr>
        <p:spPr/>
        <p:txBody>
          <a:bodyPr/>
          <a:lstStyle/>
          <a:p>
            <a:fld id="{F78284CE-8D52-1A4B-90C9-EAE6C9B62E37}" type="datetimeFigureOut">
              <a:rPr lang="en-US" smtClean="0"/>
              <a:t>4/23/26</a:t>
            </a:fld>
            <a:endParaRPr lang="en-US"/>
          </a:p>
        </p:txBody>
      </p:sp>
      <p:sp>
        <p:nvSpPr>
          <p:cNvPr id="5" name="Footer Placeholder 4">
            <a:extLst>
              <a:ext uri="{FF2B5EF4-FFF2-40B4-BE49-F238E27FC236}">
                <a16:creationId xmlns:a16="http://schemas.microsoft.com/office/drawing/2014/main" id="{45140301-E44D-2BE3-E479-196B496A80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48E00C-823D-8E37-2247-53C9C6829E75}"/>
              </a:ext>
            </a:extLst>
          </p:cNvPr>
          <p:cNvSpPr>
            <a:spLocks noGrp="1"/>
          </p:cNvSpPr>
          <p:nvPr>
            <p:ph type="sldNum" sz="quarter" idx="12"/>
          </p:nvPr>
        </p:nvSpPr>
        <p:spPr/>
        <p:txBody>
          <a:bodyPr/>
          <a:lstStyle/>
          <a:p>
            <a:fld id="{DDF123E8-9E98-2846-8642-AF4CD5DB0982}" type="slidenum">
              <a:rPr lang="en-US" smtClean="0"/>
              <a:t>‹#›</a:t>
            </a:fld>
            <a:endParaRPr lang="en-US"/>
          </a:p>
        </p:txBody>
      </p:sp>
    </p:spTree>
    <p:extLst>
      <p:ext uri="{BB962C8B-B14F-4D97-AF65-F5344CB8AC3E}">
        <p14:creationId xmlns:p14="http://schemas.microsoft.com/office/powerpoint/2010/main" val="1728158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939B4-C783-1DA8-DDCA-15D7BFE448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87A9571-3071-E662-D701-A59D256872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57019C-C569-F0B2-D108-1F8D40C3FECF}"/>
              </a:ext>
            </a:extLst>
          </p:cNvPr>
          <p:cNvSpPr>
            <a:spLocks noGrp="1"/>
          </p:cNvSpPr>
          <p:nvPr>
            <p:ph type="dt" sz="half" idx="10"/>
          </p:nvPr>
        </p:nvSpPr>
        <p:spPr/>
        <p:txBody>
          <a:bodyPr/>
          <a:lstStyle/>
          <a:p>
            <a:fld id="{F78284CE-8D52-1A4B-90C9-EAE6C9B62E37}" type="datetimeFigureOut">
              <a:rPr lang="en-US" smtClean="0"/>
              <a:t>4/23/26</a:t>
            </a:fld>
            <a:endParaRPr lang="en-US"/>
          </a:p>
        </p:txBody>
      </p:sp>
      <p:sp>
        <p:nvSpPr>
          <p:cNvPr id="5" name="Footer Placeholder 4">
            <a:extLst>
              <a:ext uri="{FF2B5EF4-FFF2-40B4-BE49-F238E27FC236}">
                <a16:creationId xmlns:a16="http://schemas.microsoft.com/office/drawing/2014/main" id="{D07288C3-DE08-7168-16C3-8C5D6FD715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C744E5-D3B8-C5C5-49B7-A4730C046DA0}"/>
              </a:ext>
            </a:extLst>
          </p:cNvPr>
          <p:cNvSpPr>
            <a:spLocks noGrp="1"/>
          </p:cNvSpPr>
          <p:nvPr>
            <p:ph type="sldNum" sz="quarter" idx="12"/>
          </p:nvPr>
        </p:nvSpPr>
        <p:spPr/>
        <p:txBody>
          <a:bodyPr/>
          <a:lstStyle/>
          <a:p>
            <a:fld id="{DDF123E8-9E98-2846-8642-AF4CD5DB0982}" type="slidenum">
              <a:rPr lang="en-US" smtClean="0"/>
              <a:t>‹#›</a:t>
            </a:fld>
            <a:endParaRPr lang="en-US"/>
          </a:p>
        </p:txBody>
      </p:sp>
    </p:spTree>
    <p:extLst>
      <p:ext uri="{BB962C8B-B14F-4D97-AF65-F5344CB8AC3E}">
        <p14:creationId xmlns:p14="http://schemas.microsoft.com/office/powerpoint/2010/main" val="18158060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5D220-4D51-F09F-4395-3A7E276D96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DD9A48-9EFB-48A0-D146-5A38563D77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172A9A9-4255-6777-76ED-34AADDF841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E58DBDB-8398-B2EC-C5B6-5F9D95015CAB}"/>
              </a:ext>
            </a:extLst>
          </p:cNvPr>
          <p:cNvSpPr>
            <a:spLocks noGrp="1"/>
          </p:cNvSpPr>
          <p:nvPr>
            <p:ph type="dt" sz="half" idx="10"/>
          </p:nvPr>
        </p:nvSpPr>
        <p:spPr/>
        <p:txBody>
          <a:bodyPr/>
          <a:lstStyle/>
          <a:p>
            <a:fld id="{F78284CE-8D52-1A4B-90C9-EAE6C9B62E37}" type="datetimeFigureOut">
              <a:rPr lang="en-US" smtClean="0"/>
              <a:t>4/23/26</a:t>
            </a:fld>
            <a:endParaRPr lang="en-US"/>
          </a:p>
        </p:txBody>
      </p:sp>
      <p:sp>
        <p:nvSpPr>
          <p:cNvPr id="6" name="Footer Placeholder 5">
            <a:extLst>
              <a:ext uri="{FF2B5EF4-FFF2-40B4-BE49-F238E27FC236}">
                <a16:creationId xmlns:a16="http://schemas.microsoft.com/office/drawing/2014/main" id="{680022CD-21B7-D917-5C7D-A80FF1BE7D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473976-9D4F-4211-CA4F-BC9531109F24}"/>
              </a:ext>
            </a:extLst>
          </p:cNvPr>
          <p:cNvSpPr>
            <a:spLocks noGrp="1"/>
          </p:cNvSpPr>
          <p:nvPr>
            <p:ph type="sldNum" sz="quarter" idx="12"/>
          </p:nvPr>
        </p:nvSpPr>
        <p:spPr/>
        <p:txBody>
          <a:bodyPr/>
          <a:lstStyle/>
          <a:p>
            <a:fld id="{DDF123E8-9E98-2846-8642-AF4CD5DB0982}" type="slidenum">
              <a:rPr lang="en-US" smtClean="0"/>
              <a:t>‹#›</a:t>
            </a:fld>
            <a:endParaRPr lang="en-US"/>
          </a:p>
        </p:txBody>
      </p:sp>
    </p:spTree>
    <p:extLst>
      <p:ext uri="{BB962C8B-B14F-4D97-AF65-F5344CB8AC3E}">
        <p14:creationId xmlns:p14="http://schemas.microsoft.com/office/powerpoint/2010/main" val="3641000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C337F-1D93-85C5-6A7B-99F3833EEE6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468263C-9016-97F3-DAD4-0E24A67C00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94FFDF-C369-26C1-3816-F2B4A1E304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E13C76-989F-40E3-3BC0-4D0E02C9B1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36CD21-8707-6B98-FC65-7EA3DCA5D67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8A420E-AB81-1636-E2DF-29482A706A01}"/>
              </a:ext>
            </a:extLst>
          </p:cNvPr>
          <p:cNvSpPr>
            <a:spLocks noGrp="1"/>
          </p:cNvSpPr>
          <p:nvPr>
            <p:ph type="dt" sz="half" idx="10"/>
          </p:nvPr>
        </p:nvSpPr>
        <p:spPr/>
        <p:txBody>
          <a:bodyPr/>
          <a:lstStyle/>
          <a:p>
            <a:fld id="{F78284CE-8D52-1A4B-90C9-EAE6C9B62E37}" type="datetimeFigureOut">
              <a:rPr lang="en-US" smtClean="0"/>
              <a:t>4/23/26</a:t>
            </a:fld>
            <a:endParaRPr lang="en-US"/>
          </a:p>
        </p:txBody>
      </p:sp>
      <p:sp>
        <p:nvSpPr>
          <p:cNvPr id="8" name="Footer Placeholder 7">
            <a:extLst>
              <a:ext uri="{FF2B5EF4-FFF2-40B4-BE49-F238E27FC236}">
                <a16:creationId xmlns:a16="http://schemas.microsoft.com/office/drawing/2014/main" id="{5B302A24-2A3F-B3F1-8A37-AFE63817FD1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399FA58-9035-413F-714B-851FFE33A602}"/>
              </a:ext>
            </a:extLst>
          </p:cNvPr>
          <p:cNvSpPr>
            <a:spLocks noGrp="1"/>
          </p:cNvSpPr>
          <p:nvPr>
            <p:ph type="sldNum" sz="quarter" idx="12"/>
          </p:nvPr>
        </p:nvSpPr>
        <p:spPr/>
        <p:txBody>
          <a:bodyPr/>
          <a:lstStyle/>
          <a:p>
            <a:fld id="{DDF123E8-9E98-2846-8642-AF4CD5DB0982}" type="slidenum">
              <a:rPr lang="en-US" smtClean="0"/>
              <a:t>‹#›</a:t>
            </a:fld>
            <a:endParaRPr lang="en-US"/>
          </a:p>
        </p:txBody>
      </p:sp>
    </p:spTree>
    <p:extLst>
      <p:ext uri="{BB962C8B-B14F-4D97-AF65-F5344CB8AC3E}">
        <p14:creationId xmlns:p14="http://schemas.microsoft.com/office/powerpoint/2010/main" val="1815899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2654E-657B-123F-E063-F16BE62F8A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45D785-D2EC-C648-4F51-7262AE88EB76}"/>
              </a:ext>
            </a:extLst>
          </p:cNvPr>
          <p:cNvSpPr>
            <a:spLocks noGrp="1"/>
          </p:cNvSpPr>
          <p:nvPr>
            <p:ph type="dt" sz="half" idx="10"/>
          </p:nvPr>
        </p:nvSpPr>
        <p:spPr/>
        <p:txBody>
          <a:bodyPr/>
          <a:lstStyle/>
          <a:p>
            <a:fld id="{F78284CE-8D52-1A4B-90C9-EAE6C9B62E37}" type="datetimeFigureOut">
              <a:rPr lang="en-US" smtClean="0"/>
              <a:t>4/23/26</a:t>
            </a:fld>
            <a:endParaRPr lang="en-US"/>
          </a:p>
        </p:txBody>
      </p:sp>
      <p:sp>
        <p:nvSpPr>
          <p:cNvPr id="4" name="Footer Placeholder 3">
            <a:extLst>
              <a:ext uri="{FF2B5EF4-FFF2-40B4-BE49-F238E27FC236}">
                <a16:creationId xmlns:a16="http://schemas.microsoft.com/office/drawing/2014/main" id="{DB38BF84-EDBE-C5F3-BCBF-EF2E4584410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AED169-98BE-3A92-B8EC-54BAB7EB6E52}"/>
              </a:ext>
            </a:extLst>
          </p:cNvPr>
          <p:cNvSpPr>
            <a:spLocks noGrp="1"/>
          </p:cNvSpPr>
          <p:nvPr>
            <p:ph type="sldNum" sz="quarter" idx="12"/>
          </p:nvPr>
        </p:nvSpPr>
        <p:spPr/>
        <p:txBody>
          <a:bodyPr/>
          <a:lstStyle/>
          <a:p>
            <a:fld id="{DDF123E8-9E98-2846-8642-AF4CD5DB0982}" type="slidenum">
              <a:rPr lang="en-US" smtClean="0"/>
              <a:t>‹#›</a:t>
            </a:fld>
            <a:endParaRPr lang="en-US"/>
          </a:p>
        </p:txBody>
      </p:sp>
    </p:spTree>
    <p:extLst>
      <p:ext uri="{BB962C8B-B14F-4D97-AF65-F5344CB8AC3E}">
        <p14:creationId xmlns:p14="http://schemas.microsoft.com/office/powerpoint/2010/main" val="12921626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9E13A9-66EC-C48E-19DE-4F20F3EA43AE}"/>
              </a:ext>
            </a:extLst>
          </p:cNvPr>
          <p:cNvSpPr>
            <a:spLocks noGrp="1"/>
          </p:cNvSpPr>
          <p:nvPr>
            <p:ph type="dt" sz="half" idx="10"/>
          </p:nvPr>
        </p:nvSpPr>
        <p:spPr/>
        <p:txBody>
          <a:bodyPr/>
          <a:lstStyle/>
          <a:p>
            <a:fld id="{F78284CE-8D52-1A4B-90C9-EAE6C9B62E37}" type="datetimeFigureOut">
              <a:rPr lang="en-US" smtClean="0"/>
              <a:t>4/23/26</a:t>
            </a:fld>
            <a:endParaRPr lang="en-US"/>
          </a:p>
        </p:txBody>
      </p:sp>
      <p:sp>
        <p:nvSpPr>
          <p:cNvPr id="3" name="Footer Placeholder 2">
            <a:extLst>
              <a:ext uri="{FF2B5EF4-FFF2-40B4-BE49-F238E27FC236}">
                <a16:creationId xmlns:a16="http://schemas.microsoft.com/office/drawing/2014/main" id="{12CC8CC5-7BE0-4BD2-52B2-1A2EC025487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68C8146-6E01-0849-8EB4-F7CE91A223CF}"/>
              </a:ext>
            </a:extLst>
          </p:cNvPr>
          <p:cNvSpPr>
            <a:spLocks noGrp="1"/>
          </p:cNvSpPr>
          <p:nvPr>
            <p:ph type="sldNum" sz="quarter" idx="12"/>
          </p:nvPr>
        </p:nvSpPr>
        <p:spPr/>
        <p:txBody>
          <a:bodyPr/>
          <a:lstStyle/>
          <a:p>
            <a:fld id="{DDF123E8-9E98-2846-8642-AF4CD5DB0982}" type="slidenum">
              <a:rPr lang="en-US" smtClean="0"/>
              <a:t>‹#›</a:t>
            </a:fld>
            <a:endParaRPr lang="en-US"/>
          </a:p>
        </p:txBody>
      </p:sp>
    </p:spTree>
    <p:extLst>
      <p:ext uri="{BB962C8B-B14F-4D97-AF65-F5344CB8AC3E}">
        <p14:creationId xmlns:p14="http://schemas.microsoft.com/office/powerpoint/2010/main" val="3088773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939BB-94F5-5013-98F6-A8C7F8ADC2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816AA9B-350A-7023-5B20-FD59283BA0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4D8562-3257-37AA-D7FD-5BB05BA86A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C92C09-407C-B42C-E76A-5FE100C52E75}"/>
              </a:ext>
            </a:extLst>
          </p:cNvPr>
          <p:cNvSpPr>
            <a:spLocks noGrp="1"/>
          </p:cNvSpPr>
          <p:nvPr>
            <p:ph type="dt" sz="half" idx="10"/>
          </p:nvPr>
        </p:nvSpPr>
        <p:spPr/>
        <p:txBody>
          <a:bodyPr/>
          <a:lstStyle/>
          <a:p>
            <a:fld id="{F78284CE-8D52-1A4B-90C9-EAE6C9B62E37}" type="datetimeFigureOut">
              <a:rPr lang="en-US" smtClean="0"/>
              <a:t>4/23/26</a:t>
            </a:fld>
            <a:endParaRPr lang="en-US"/>
          </a:p>
        </p:txBody>
      </p:sp>
      <p:sp>
        <p:nvSpPr>
          <p:cNvPr id="6" name="Footer Placeholder 5">
            <a:extLst>
              <a:ext uri="{FF2B5EF4-FFF2-40B4-BE49-F238E27FC236}">
                <a16:creationId xmlns:a16="http://schemas.microsoft.com/office/drawing/2014/main" id="{F9A13F6A-2736-9E99-669F-90AAFD2A39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AE2124-ED35-4AE0-BB57-4D35AE7C5267}"/>
              </a:ext>
            </a:extLst>
          </p:cNvPr>
          <p:cNvSpPr>
            <a:spLocks noGrp="1"/>
          </p:cNvSpPr>
          <p:nvPr>
            <p:ph type="sldNum" sz="quarter" idx="12"/>
          </p:nvPr>
        </p:nvSpPr>
        <p:spPr/>
        <p:txBody>
          <a:bodyPr/>
          <a:lstStyle/>
          <a:p>
            <a:fld id="{DDF123E8-9E98-2846-8642-AF4CD5DB0982}" type="slidenum">
              <a:rPr lang="en-US" smtClean="0"/>
              <a:t>‹#›</a:t>
            </a:fld>
            <a:endParaRPr lang="en-US"/>
          </a:p>
        </p:txBody>
      </p:sp>
    </p:spTree>
    <p:extLst>
      <p:ext uri="{BB962C8B-B14F-4D97-AF65-F5344CB8AC3E}">
        <p14:creationId xmlns:p14="http://schemas.microsoft.com/office/powerpoint/2010/main" val="622087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144FA-0D14-5FAA-E264-B847186E9B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5AAFD3B-A1DF-BD71-C2E4-DC21DC4E0E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F977DEF-D277-D52C-6926-2C8834958C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BDE0B8-95AD-9F0D-09CC-2A4E3D03745D}"/>
              </a:ext>
            </a:extLst>
          </p:cNvPr>
          <p:cNvSpPr>
            <a:spLocks noGrp="1"/>
          </p:cNvSpPr>
          <p:nvPr>
            <p:ph type="dt" sz="half" idx="10"/>
          </p:nvPr>
        </p:nvSpPr>
        <p:spPr/>
        <p:txBody>
          <a:bodyPr/>
          <a:lstStyle/>
          <a:p>
            <a:fld id="{F78284CE-8D52-1A4B-90C9-EAE6C9B62E37}" type="datetimeFigureOut">
              <a:rPr lang="en-US" smtClean="0"/>
              <a:t>4/23/26</a:t>
            </a:fld>
            <a:endParaRPr lang="en-US"/>
          </a:p>
        </p:txBody>
      </p:sp>
      <p:sp>
        <p:nvSpPr>
          <p:cNvPr id="6" name="Footer Placeholder 5">
            <a:extLst>
              <a:ext uri="{FF2B5EF4-FFF2-40B4-BE49-F238E27FC236}">
                <a16:creationId xmlns:a16="http://schemas.microsoft.com/office/drawing/2014/main" id="{361F762B-A3BF-70CA-4911-B5BBCF9EFD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7482D-B143-02F0-5D2D-829C02BEEC3A}"/>
              </a:ext>
            </a:extLst>
          </p:cNvPr>
          <p:cNvSpPr>
            <a:spLocks noGrp="1"/>
          </p:cNvSpPr>
          <p:nvPr>
            <p:ph type="sldNum" sz="quarter" idx="12"/>
          </p:nvPr>
        </p:nvSpPr>
        <p:spPr/>
        <p:txBody>
          <a:bodyPr/>
          <a:lstStyle/>
          <a:p>
            <a:fld id="{DDF123E8-9E98-2846-8642-AF4CD5DB0982}" type="slidenum">
              <a:rPr lang="en-US" smtClean="0"/>
              <a:t>‹#›</a:t>
            </a:fld>
            <a:endParaRPr lang="en-US"/>
          </a:p>
        </p:txBody>
      </p:sp>
    </p:spTree>
    <p:extLst>
      <p:ext uri="{BB962C8B-B14F-4D97-AF65-F5344CB8AC3E}">
        <p14:creationId xmlns:p14="http://schemas.microsoft.com/office/powerpoint/2010/main" val="14300507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E29E4-2041-5529-F745-D21AF67261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2D36C9-AFEE-D7BE-B3C3-178C420059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C0D310-8F42-31E2-763B-F019910F496F}"/>
              </a:ext>
            </a:extLst>
          </p:cNvPr>
          <p:cNvSpPr>
            <a:spLocks noGrp="1"/>
          </p:cNvSpPr>
          <p:nvPr>
            <p:ph type="dt" sz="half" idx="10"/>
          </p:nvPr>
        </p:nvSpPr>
        <p:spPr/>
        <p:txBody>
          <a:bodyPr/>
          <a:lstStyle/>
          <a:p>
            <a:fld id="{F78284CE-8D52-1A4B-90C9-EAE6C9B62E37}" type="datetimeFigureOut">
              <a:rPr lang="en-US" smtClean="0"/>
              <a:t>4/23/26</a:t>
            </a:fld>
            <a:endParaRPr lang="en-US"/>
          </a:p>
        </p:txBody>
      </p:sp>
      <p:sp>
        <p:nvSpPr>
          <p:cNvPr id="5" name="Footer Placeholder 4">
            <a:extLst>
              <a:ext uri="{FF2B5EF4-FFF2-40B4-BE49-F238E27FC236}">
                <a16:creationId xmlns:a16="http://schemas.microsoft.com/office/drawing/2014/main" id="{C9E955E7-A8BB-9037-0F8A-7CD0DD66AC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BDA918-1BEB-882D-116E-2E538C6F1F36}"/>
              </a:ext>
            </a:extLst>
          </p:cNvPr>
          <p:cNvSpPr>
            <a:spLocks noGrp="1"/>
          </p:cNvSpPr>
          <p:nvPr>
            <p:ph type="sldNum" sz="quarter" idx="12"/>
          </p:nvPr>
        </p:nvSpPr>
        <p:spPr/>
        <p:txBody>
          <a:bodyPr/>
          <a:lstStyle/>
          <a:p>
            <a:fld id="{DDF123E8-9E98-2846-8642-AF4CD5DB0982}" type="slidenum">
              <a:rPr lang="en-US" smtClean="0"/>
              <a:t>‹#›</a:t>
            </a:fld>
            <a:endParaRPr lang="en-US"/>
          </a:p>
        </p:txBody>
      </p:sp>
    </p:spTree>
    <p:extLst>
      <p:ext uri="{BB962C8B-B14F-4D97-AF65-F5344CB8AC3E}">
        <p14:creationId xmlns:p14="http://schemas.microsoft.com/office/powerpoint/2010/main" val="736735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154FD0-A53C-BAA6-38D3-5252B3A8348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E391DC-CBAC-47C1-F322-C44EE3AAC3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BF38F2-EC77-447F-7290-1A35CA8CDE45}"/>
              </a:ext>
            </a:extLst>
          </p:cNvPr>
          <p:cNvSpPr>
            <a:spLocks noGrp="1"/>
          </p:cNvSpPr>
          <p:nvPr>
            <p:ph type="dt" sz="half" idx="10"/>
          </p:nvPr>
        </p:nvSpPr>
        <p:spPr/>
        <p:txBody>
          <a:bodyPr/>
          <a:lstStyle/>
          <a:p>
            <a:fld id="{F78284CE-8D52-1A4B-90C9-EAE6C9B62E37}" type="datetimeFigureOut">
              <a:rPr lang="en-US" smtClean="0"/>
              <a:t>4/23/26</a:t>
            </a:fld>
            <a:endParaRPr lang="en-US"/>
          </a:p>
        </p:txBody>
      </p:sp>
      <p:sp>
        <p:nvSpPr>
          <p:cNvPr id="5" name="Footer Placeholder 4">
            <a:extLst>
              <a:ext uri="{FF2B5EF4-FFF2-40B4-BE49-F238E27FC236}">
                <a16:creationId xmlns:a16="http://schemas.microsoft.com/office/drawing/2014/main" id="{2EBCB513-E42E-4CEA-1A4D-2E09CB1B34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7FCDE6-C193-CEAC-5729-DAC9D7CB54BD}"/>
              </a:ext>
            </a:extLst>
          </p:cNvPr>
          <p:cNvSpPr>
            <a:spLocks noGrp="1"/>
          </p:cNvSpPr>
          <p:nvPr>
            <p:ph type="sldNum" sz="quarter" idx="12"/>
          </p:nvPr>
        </p:nvSpPr>
        <p:spPr/>
        <p:txBody>
          <a:bodyPr/>
          <a:lstStyle/>
          <a:p>
            <a:fld id="{DDF123E8-9E98-2846-8642-AF4CD5DB0982}" type="slidenum">
              <a:rPr lang="en-US" smtClean="0"/>
              <a:t>‹#›</a:t>
            </a:fld>
            <a:endParaRPr lang="en-US"/>
          </a:p>
        </p:txBody>
      </p:sp>
    </p:spTree>
    <p:extLst>
      <p:ext uri="{BB962C8B-B14F-4D97-AF65-F5344CB8AC3E}">
        <p14:creationId xmlns:p14="http://schemas.microsoft.com/office/powerpoint/2010/main" val="2067518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9F809A-F9F1-68E0-60D5-23345AF3C0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D2F8738-EE56-CD79-555B-323E613E12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B4C09F-4A16-CB20-2D6A-A1EAEC4DB4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8284CE-8D52-1A4B-90C9-EAE6C9B62E37}" type="datetimeFigureOut">
              <a:rPr lang="en-US" smtClean="0"/>
              <a:t>4/23/26</a:t>
            </a:fld>
            <a:endParaRPr lang="en-US"/>
          </a:p>
        </p:txBody>
      </p:sp>
      <p:sp>
        <p:nvSpPr>
          <p:cNvPr id="5" name="Footer Placeholder 4">
            <a:extLst>
              <a:ext uri="{FF2B5EF4-FFF2-40B4-BE49-F238E27FC236}">
                <a16:creationId xmlns:a16="http://schemas.microsoft.com/office/drawing/2014/main" id="{92F4C70D-2C08-855D-6D56-A4ED99C2B7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BF3EEC2-53C1-3ABC-EB1D-ED279D4D70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F123E8-9E98-2846-8642-AF4CD5DB0982}" type="slidenum">
              <a:rPr lang="en-US" smtClean="0"/>
              <a:t>‹#›</a:t>
            </a:fld>
            <a:endParaRPr lang="en-US"/>
          </a:p>
        </p:txBody>
      </p:sp>
    </p:spTree>
    <p:extLst>
      <p:ext uri="{BB962C8B-B14F-4D97-AF65-F5344CB8AC3E}">
        <p14:creationId xmlns:p14="http://schemas.microsoft.com/office/powerpoint/2010/main" val="21042035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eveloper.mozilla.org/en-US/docs/Web/HTML/Reference/Elements/img" TargetMode="External"/><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hyperlink" Target="https://developer.mozilla.org/en-US/docs/Web/HTML/Reference/Elements"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flexboxfroggy.com/"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developer.chrome.com/docs/lighthouse"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avidmathlogic.com/colorblind/" TargetMode="External"/><Relationship Id="rId2" Type="http://schemas.openxmlformats.org/officeDocument/2006/relationships/hyperlink" Target="https://colorhunt.co/" TargetMode="External"/><Relationship Id="rId1" Type="http://schemas.openxmlformats.org/officeDocument/2006/relationships/slideLayout" Target="../slideLayouts/slideLayout2.xml"/><Relationship Id="rId6" Type="http://schemas.openxmlformats.org/officeDocument/2006/relationships/hyperlink" Target="https://colorhunt.co/palette/fe9ec7f9f6c489d4ff44acff" TargetMode="Externa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8" Type="http://schemas.openxmlformats.org/officeDocument/2006/relationships/hyperlink" Target="https://react.dev/" TargetMode="External"/><Relationship Id="rId3" Type="http://schemas.openxmlformats.org/officeDocument/2006/relationships/hyperlink" Target="https://getbootstrap.com/" TargetMode="External"/><Relationship Id="rId7" Type="http://schemas.openxmlformats.org/officeDocument/2006/relationships/hyperlink" Target="https://nodejs.org/en"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developer.mozilla.org/en-US/" TargetMode="External"/><Relationship Id="rId5" Type="http://schemas.openxmlformats.org/officeDocument/2006/relationships/hyperlink" Target="https://jquery.com/" TargetMode="External"/><Relationship Id="rId4" Type="http://schemas.openxmlformats.org/officeDocument/2006/relationships/hyperlink" Target="https://docs.github.com/en/pages" TargetMode="External"/><Relationship Id="rId9" Type="http://schemas.openxmlformats.org/officeDocument/2006/relationships/hyperlink" Target="https://www.jetbrains.com/webstorm/"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vaasut/rp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2B757-FF48-1522-DBEA-00F396042B20}"/>
              </a:ext>
            </a:extLst>
          </p:cNvPr>
          <p:cNvSpPr>
            <a:spLocks noGrp="1"/>
          </p:cNvSpPr>
          <p:nvPr>
            <p:ph type="ctrTitle"/>
          </p:nvPr>
        </p:nvSpPr>
        <p:spPr>
          <a:xfrm>
            <a:off x="1523997" y="548330"/>
            <a:ext cx="9144000" cy="1604211"/>
          </a:xfrm>
        </p:spPr>
        <p:txBody>
          <a:bodyPr>
            <a:normAutofit/>
          </a:bodyPr>
          <a:lstStyle/>
          <a:p>
            <a:r>
              <a:rPr lang="en-US" sz="6600" dirty="0"/>
              <a:t>Front End Development</a:t>
            </a:r>
          </a:p>
        </p:txBody>
      </p:sp>
      <p:sp>
        <p:nvSpPr>
          <p:cNvPr id="4" name="TextBox 3">
            <a:extLst>
              <a:ext uri="{FF2B5EF4-FFF2-40B4-BE49-F238E27FC236}">
                <a16:creationId xmlns:a16="http://schemas.microsoft.com/office/drawing/2014/main" id="{D8A3226C-9CF4-A965-5473-0324A8BD61AA}"/>
              </a:ext>
            </a:extLst>
          </p:cNvPr>
          <p:cNvSpPr txBox="1"/>
          <p:nvPr/>
        </p:nvSpPr>
        <p:spPr>
          <a:xfrm>
            <a:off x="8022" y="6440542"/>
            <a:ext cx="11277600" cy="369332"/>
          </a:xfrm>
          <a:prstGeom prst="rect">
            <a:avLst/>
          </a:prstGeom>
          <a:noFill/>
        </p:spPr>
        <p:txBody>
          <a:bodyPr wrap="square" rtlCol="0">
            <a:spAutoFit/>
          </a:bodyPr>
          <a:lstStyle/>
          <a:p>
            <a:r>
              <a:rPr lang="en-US" dirty="0"/>
              <a:t>Disclaimer: It’s been a while since I developed any websites. I focus on general principles and basic concepts.</a:t>
            </a:r>
          </a:p>
        </p:txBody>
      </p:sp>
      <p:pic>
        <p:nvPicPr>
          <p:cNvPr id="6" name="Picture 5" descr="Picture of paper frog with googly eyes.">
            <a:extLst>
              <a:ext uri="{FF2B5EF4-FFF2-40B4-BE49-F238E27FC236}">
                <a16:creationId xmlns:a16="http://schemas.microsoft.com/office/drawing/2014/main" id="{A10036EF-91F0-0A07-94FE-3FEBB187FA71}"/>
              </a:ext>
            </a:extLst>
          </p:cNvPr>
          <p:cNvPicPr>
            <a:picLocks noChangeAspect="1"/>
          </p:cNvPicPr>
          <p:nvPr/>
        </p:nvPicPr>
        <p:blipFill>
          <a:blip r:embed="rId3"/>
          <a:stretch>
            <a:fillRect/>
          </a:stretch>
        </p:blipFill>
        <p:spPr>
          <a:xfrm>
            <a:off x="4966655" y="3592489"/>
            <a:ext cx="2258687" cy="2258687"/>
          </a:xfrm>
          <a:prstGeom prst="rect">
            <a:avLst/>
          </a:prstGeom>
          <a:ln w="28575">
            <a:solidFill>
              <a:schemeClr val="tx1"/>
            </a:solidFill>
          </a:ln>
        </p:spPr>
      </p:pic>
      <p:pic>
        <p:nvPicPr>
          <p:cNvPr id="7" name="Picture 6" descr="Picture of rock with googly eyes.">
            <a:extLst>
              <a:ext uri="{FF2B5EF4-FFF2-40B4-BE49-F238E27FC236}">
                <a16:creationId xmlns:a16="http://schemas.microsoft.com/office/drawing/2014/main" id="{18A4C975-16B1-94E6-6565-A60F3112068A}"/>
              </a:ext>
            </a:extLst>
          </p:cNvPr>
          <p:cNvPicPr>
            <a:picLocks noChangeAspect="1"/>
          </p:cNvPicPr>
          <p:nvPr/>
        </p:nvPicPr>
        <p:blipFill>
          <a:blip r:embed="rId4"/>
          <a:stretch>
            <a:fillRect/>
          </a:stretch>
        </p:blipFill>
        <p:spPr>
          <a:xfrm>
            <a:off x="1383391" y="3592489"/>
            <a:ext cx="2258687" cy="2258687"/>
          </a:xfrm>
          <a:prstGeom prst="rect">
            <a:avLst/>
          </a:prstGeom>
          <a:ln w="28575">
            <a:solidFill>
              <a:schemeClr val="tx1"/>
            </a:solidFill>
          </a:ln>
        </p:spPr>
      </p:pic>
      <p:pic>
        <p:nvPicPr>
          <p:cNvPr id="8" name="Picture 7" descr="Picture of scissors with googly eyes.">
            <a:extLst>
              <a:ext uri="{FF2B5EF4-FFF2-40B4-BE49-F238E27FC236}">
                <a16:creationId xmlns:a16="http://schemas.microsoft.com/office/drawing/2014/main" id="{0285075B-E132-2296-DD87-6556D2EBA0B2}"/>
              </a:ext>
            </a:extLst>
          </p:cNvPr>
          <p:cNvPicPr>
            <a:picLocks noChangeAspect="1"/>
          </p:cNvPicPr>
          <p:nvPr/>
        </p:nvPicPr>
        <p:blipFill>
          <a:blip r:embed="rId5"/>
          <a:stretch>
            <a:fillRect/>
          </a:stretch>
        </p:blipFill>
        <p:spPr>
          <a:xfrm>
            <a:off x="8549919" y="3626680"/>
            <a:ext cx="2224496" cy="2224496"/>
          </a:xfrm>
          <a:prstGeom prst="rect">
            <a:avLst/>
          </a:prstGeom>
          <a:ln w="28575">
            <a:solidFill>
              <a:schemeClr val="tx1"/>
            </a:solidFill>
          </a:ln>
        </p:spPr>
      </p:pic>
      <p:sp>
        <p:nvSpPr>
          <p:cNvPr id="9" name="TextBox 8">
            <a:extLst>
              <a:ext uri="{FF2B5EF4-FFF2-40B4-BE49-F238E27FC236}">
                <a16:creationId xmlns:a16="http://schemas.microsoft.com/office/drawing/2014/main" id="{D7434A81-DF9B-CDA2-77AD-E1D09DE3B0DE}"/>
              </a:ext>
            </a:extLst>
          </p:cNvPr>
          <p:cNvSpPr txBox="1"/>
          <p:nvPr/>
        </p:nvSpPr>
        <p:spPr>
          <a:xfrm>
            <a:off x="3004382" y="2864977"/>
            <a:ext cx="6183231" cy="523220"/>
          </a:xfrm>
          <a:prstGeom prst="rect">
            <a:avLst/>
          </a:prstGeom>
          <a:noFill/>
        </p:spPr>
        <p:txBody>
          <a:bodyPr wrap="none" rtlCol="0">
            <a:spAutoFit/>
          </a:bodyPr>
          <a:lstStyle/>
          <a:p>
            <a:r>
              <a:rPr lang="en-US" sz="2800" dirty="0"/>
              <a:t>Featuring a Rock, Paper, Scissors Tutorial!</a:t>
            </a:r>
          </a:p>
        </p:txBody>
      </p:sp>
    </p:spTree>
    <p:extLst>
      <p:ext uri="{BB962C8B-B14F-4D97-AF65-F5344CB8AC3E}">
        <p14:creationId xmlns:p14="http://schemas.microsoft.com/office/powerpoint/2010/main" val="480369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E808B-77F3-21F7-36B3-53AD37D95CF8}"/>
              </a:ext>
            </a:extLst>
          </p:cNvPr>
          <p:cNvSpPr>
            <a:spLocks noGrp="1"/>
          </p:cNvSpPr>
          <p:nvPr>
            <p:ph type="title"/>
          </p:nvPr>
        </p:nvSpPr>
        <p:spPr>
          <a:xfrm>
            <a:off x="783020" y="415980"/>
            <a:ext cx="10927717" cy="1325563"/>
          </a:xfrm>
        </p:spPr>
        <p:txBody>
          <a:bodyPr>
            <a:normAutofit/>
          </a:bodyPr>
          <a:lstStyle/>
          <a:p>
            <a:r>
              <a:rPr lang="en-US" sz="4000" dirty="0"/>
              <a:t>Design - Quick Notes (1)</a:t>
            </a:r>
          </a:p>
        </p:txBody>
      </p:sp>
      <p:sp>
        <p:nvSpPr>
          <p:cNvPr id="3" name="Content Placeholder 2">
            <a:extLst>
              <a:ext uri="{FF2B5EF4-FFF2-40B4-BE49-F238E27FC236}">
                <a16:creationId xmlns:a16="http://schemas.microsoft.com/office/drawing/2014/main" id="{3A468C12-50EE-5C6A-0222-CE51D4B2618D}"/>
              </a:ext>
            </a:extLst>
          </p:cNvPr>
          <p:cNvSpPr>
            <a:spLocks noGrp="1"/>
          </p:cNvSpPr>
          <p:nvPr>
            <p:ph idx="1"/>
          </p:nvPr>
        </p:nvSpPr>
        <p:spPr>
          <a:xfrm>
            <a:off x="575440" y="1931548"/>
            <a:ext cx="10927716" cy="4351338"/>
          </a:xfrm>
        </p:spPr>
        <p:txBody>
          <a:bodyPr>
            <a:normAutofit/>
          </a:bodyPr>
          <a:lstStyle/>
          <a:p>
            <a:r>
              <a:rPr lang="en-US" sz="3200" dirty="0"/>
              <a:t>Good design is a heavily researched topic with many resources.</a:t>
            </a:r>
          </a:p>
          <a:p>
            <a:r>
              <a:rPr lang="en-US" sz="3200" dirty="0"/>
              <a:t>There are common design principles which you can follow.</a:t>
            </a:r>
          </a:p>
          <a:p>
            <a:r>
              <a:rPr lang="en-US" sz="3200" dirty="0"/>
              <a:t>Intuitive Design</a:t>
            </a:r>
          </a:p>
          <a:p>
            <a:pPr lvl="1"/>
            <a:r>
              <a:rPr lang="en-US" sz="2800" dirty="0"/>
              <a:t>If users are confused about how to use your app, it is not designed well enough.</a:t>
            </a:r>
          </a:p>
          <a:p>
            <a:r>
              <a:rPr lang="en-US" sz="3200" dirty="0"/>
              <a:t>Accessible design helps everyone.</a:t>
            </a:r>
          </a:p>
          <a:p>
            <a:r>
              <a:rPr lang="en-US" sz="3200" dirty="0"/>
              <a:t>Do not leave design as a last thought.</a:t>
            </a:r>
          </a:p>
        </p:txBody>
      </p:sp>
    </p:spTree>
    <p:extLst>
      <p:ext uri="{BB962C8B-B14F-4D97-AF65-F5344CB8AC3E}">
        <p14:creationId xmlns:p14="http://schemas.microsoft.com/office/powerpoint/2010/main" val="14367887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40C00-53C9-B99F-0748-8A9901C8BC03}"/>
              </a:ext>
            </a:extLst>
          </p:cNvPr>
          <p:cNvSpPr>
            <a:spLocks noGrp="1"/>
          </p:cNvSpPr>
          <p:nvPr>
            <p:ph type="title"/>
          </p:nvPr>
        </p:nvSpPr>
        <p:spPr/>
        <p:txBody>
          <a:bodyPr/>
          <a:lstStyle/>
          <a:p>
            <a:r>
              <a:rPr lang="en-US" dirty="0"/>
              <a:t>Design – Quick Notes (2)</a:t>
            </a:r>
          </a:p>
        </p:txBody>
      </p:sp>
      <p:sp>
        <p:nvSpPr>
          <p:cNvPr id="3" name="Content Placeholder 2">
            <a:extLst>
              <a:ext uri="{FF2B5EF4-FFF2-40B4-BE49-F238E27FC236}">
                <a16:creationId xmlns:a16="http://schemas.microsoft.com/office/drawing/2014/main" id="{3FF1506B-5135-AA7B-E3C7-338CF1A5B27F}"/>
              </a:ext>
            </a:extLst>
          </p:cNvPr>
          <p:cNvSpPr>
            <a:spLocks noGrp="1"/>
          </p:cNvSpPr>
          <p:nvPr>
            <p:ph idx="1"/>
          </p:nvPr>
        </p:nvSpPr>
        <p:spPr/>
        <p:txBody>
          <a:bodyPr/>
          <a:lstStyle/>
          <a:p>
            <a:pPr marL="0" indent="0">
              <a:buNone/>
            </a:pPr>
            <a:r>
              <a:rPr lang="en-US" dirty="0"/>
              <a:t>“Two of the most important characteristics of good design are discoverability and understanding. </a:t>
            </a:r>
          </a:p>
          <a:p>
            <a:pPr marL="0" indent="0">
              <a:buNone/>
            </a:pPr>
            <a:r>
              <a:rPr lang="en-US" b="1" dirty="0"/>
              <a:t>Discoverability:</a:t>
            </a:r>
            <a:r>
              <a:rPr lang="en-US" dirty="0"/>
              <a:t> Is it possible to even figure out what actions are possible and where and how to perform them? </a:t>
            </a:r>
          </a:p>
          <a:p>
            <a:pPr marL="0" indent="0">
              <a:buNone/>
            </a:pPr>
            <a:r>
              <a:rPr lang="en-US" b="1" dirty="0"/>
              <a:t>Understanding: </a:t>
            </a:r>
            <a:r>
              <a:rPr lang="en-US" dirty="0"/>
              <a:t>What does it all mean? How is the product supposed to be used? What do all the different controls and settings mean?”</a:t>
            </a:r>
          </a:p>
          <a:p>
            <a:pPr marL="0" indent="0">
              <a:buNone/>
            </a:pPr>
            <a:r>
              <a:rPr lang="en-US" i="1" dirty="0"/>
              <a:t>The Design of Everyday Things, </a:t>
            </a:r>
            <a:r>
              <a:rPr lang="en-US" dirty="0"/>
              <a:t>Don Norman</a:t>
            </a:r>
            <a:endParaRPr lang="en-US" i="1" dirty="0"/>
          </a:p>
        </p:txBody>
      </p:sp>
    </p:spTree>
    <p:extLst>
      <p:ext uri="{BB962C8B-B14F-4D97-AF65-F5344CB8AC3E}">
        <p14:creationId xmlns:p14="http://schemas.microsoft.com/office/powerpoint/2010/main" val="727574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90FE2-410C-812A-A80A-B2467F247CA7}"/>
              </a:ext>
            </a:extLst>
          </p:cNvPr>
          <p:cNvSpPr>
            <a:spLocks noGrp="1"/>
          </p:cNvSpPr>
          <p:nvPr>
            <p:ph type="title"/>
          </p:nvPr>
        </p:nvSpPr>
        <p:spPr/>
        <p:txBody>
          <a:bodyPr/>
          <a:lstStyle/>
          <a:p>
            <a:r>
              <a:rPr lang="en-US" dirty="0"/>
              <a:t>Design - Make Failure Impossible!</a:t>
            </a:r>
          </a:p>
        </p:txBody>
      </p:sp>
      <p:sp>
        <p:nvSpPr>
          <p:cNvPr id="3" name="Content Placeholder 2">
            <a:extLst>
              <a:ext uri="{FF2B5EF4-FFF2-40B4-BE49-F238E27FC236}">
                <a16:creationId xmlns:a16="http://schemas.microsoft.com/office/drawing/2014/main" id="{570CA56B-A068-37C0-2285-6FEF6BF9F1D4}"/>
              </a:ext>
            </a:extLst>
          </p:cNvPr>
          <p:cNvSpPr>
            <a:spLocks noGrp="1"/>
          </p:cNvSpPr>
          <p:nvPr>
            <p:ph idx="1"/>
          </p:nvPr>
        </p:nvSpPr>
        <p:spPr>
          <a:xfrm>
            <a:off x="620575" y="1778124"/>
            <a:ext cx="10858995" cy="4351338"/>
          </a:xfrm>
        </p:spPr>
        <p:txBody>
          <a:bodyPr/>
          <a:lstStyle/>
          <a:p>
            <a:pPr marL="0" indent="0">
              <a:buNone/>
            </a:pPr>
            <a:r>
              <a:rPr lang="en-US" dirty="0"/>
              <a:t>Especially for anything high stakes, make error close to impossible.</a:t>
            </a:r>
          </a:p>
        </p:txBody>
      </p:sp>
      <p:pic>
        <p:nvPicPr>
          <p:cNvPr id="4" name="Picture 3" descr="Image of panic bar on door. In a fire, people push out so these doors are required in many places.">
            <a:extLst>
              <a:ext uri="{FF2B5EF4-FFF2-40B4-BE49-F238E27FC236}">
                <a16:creationId xmlns:a16="http://schemas.microsoft.com/office/drawing/2014/main" id="{CBDA2498-A8F9-C09E-C666-3AC4405A999F}"/>
              </a:ext>
            </a:extLst>
          </p:cNvPr>
          <p:cNvPicPr>
            <a:picLocks noChangeAspect="1"/>
          </p:cNvPicPr>
          <p:nvPr/>
        </p:nvPicPr>
        <p:blipFill>
          <a:blip r:embed="rId2"/>
          <a:stretch>
            <a:fillRect/>
          </a:stretch>
        </p:blipFill>
        <p:spPr>
          <a:xfrm>
            <a:off x="7205221" y="2567243"/>
            <a:ext cx="4148579" cy="3125005"/>
          </a:xfrm>
          <a:prstGeom prst="rect">
            <a:avLst/>
          </a:prstGeom>
          <a:ln w="28575">
            <a:solidFill>
              <a:schemeClr val="tx1"/>
            </a:solidFill>
          </a:ln>
        </p:spPr>
      </p:pic>
      <p:pic>
        <p:nvPicPr>
          <p:cNvPr id="5" name="Picture 4" descr="Text bubble that shows up when you try to close a word document without saving.&#10;It says, &quot;Do you want to save the changes you made?&quot; with options to save or not save.">
            <a:extLst>
              <a:ext uri="{FF2B5EF4-FFF2-40B4-BE49-F238E27FC236}">
                <a16:creationId xmlns:a16="http://schemas.microsoft.com/office/drawing/2014/main" id="{EB8169B2-21AA-B0E8-42CB-4EC033CC931F}"/>
              </a:ext>
            </a:extLst>
          </p:cNvPr>
          <p:cNvPicPr>
            <a:picLocks noChangeAspect="1"/>
          </p:cNvPicPr>
          <p:nvPr/>
        </p:nvPicPr>
        <p:blipFill>
          <a:blip r:embed="rId3"/>
          <a:stretch>
            <a:fillRect/>
          </a:stretch>
        </p:blipFill>
        <p:spPr>
          <a:xfrm>
            <a:off x="712430" y="2635526"/>
            <a:ext cx="6025525" cy="2844347"/>
          </a:xfrm>
          <a:prstGeom prst="rect">
            <a:avLst/>
          </a:prstGeom>
          <a:ln w="28575">
            <a:solidFill>
              <a:schemeClr val="tx1"/>
            </a:solidFill>
          </a:ln>
        </p:spPr>
      </p:pic>
      <p:sp>
        <p:nvSpPr>
          <p:cNvPr id="6" name="TextBox 5">
            <a:extLst>
              <a:ext uri="{FF2B5EF4-FFF2-40B4-BE49-F238E27FC236}">
                <a16:creationId xmlns:a16="http://schemas.microsoft.com/office/drawing/2014/main" id="{781C95A9-4E33-3A7E-CBD9-FE983F40CBFC}"/>
              </a:ext>
            </a:extLst>
          </p:cNvPr>
          <p:cNvSpPr txBox="1"/>
          <p:nvPr/>
        </p:nvSpPr>
        <p:spPr>
          <a:xfrm>
            <a:off x="7679996" y="6308209"/>
            <a:ext cx="4512004" cy="369332"/>
          </a:xfrm>
          <a:prstGeom prst="rect">
            <a:avLst/>
          </a:prstGeom>
          <a:noFill/>
        </p:spPr>
        <p:txBody>
          <a:bodyPr wrap="none" rtlCol="0">
            <a:spAutoFit/>
          </a:bodyPr>
          <a:lstStyle/>
          <a:p>
            <a:r>
              <a:rPr lang="en-US" dirty="0"/>
              <a:t>Examples from </a:t>
            </a:r>
            <a:r>
              <a:rPr lang="en-US" i="1" dirty="0"/>
              <a:t>The Design of Everyday Things</a:t>
            </a:r>
            <a:endParaRPr lang="en-US" dirty="0"/>
          </a:p>
        </p:txBody>
      </p:sp>
    </p:spTree>
    <p:extLst>
      <p:ext uri="{BB962C8B-B14F-4D97-AF65-F5344CB8AC3E}">
        <p14:creationId xmlns:p14="http://schemas.microsoft.com/office/powerpoint/2010/main" val="2147446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B33CF-FA38-6B4A-EE1E-5FA36470B2A4}"/>
              </a:ext>
            </a:extLst>
          </p:cNvPr>
          <p:cNvSpPr>
            <a:spLocks noGrp="1"/>
          </p:cNvSpPr>
          <p:nvPr>
            <p:ph type="title"/>
          </p:nvPr>
        </p:nvSpPr>
        <p:spPr>
          <a:xfrm>
            <a:off x="390403" y="365124"/>
            <a:ext cx="11215255" cy="869909"/>
          </a:xfrm>
        </p:spPr>
        <p:txBody>
          <a:bodyPr>
            <a:normAutofit/>
          </a:bodyPr>
          <a:lstStyle/>
          <a:p>
            <a:r>
              <a:rPr lang="en-US" dirty="0"/>
              <a:t>Simple Web Dev Environment</a:t>
            </a:r>
          </a:p>
        </p:txBody>
      </p:sp>
      <p:pic>
        <p:nvPicPr>
          <p:cNvPr id="4" name="Picture 3" descr="Screenshot of simple developer environment for simple website.&#10;">
            <a:extLst>
              <a:ext uri="{FF2B5EF4-FFF2-40B4-BE49-F238E27FC236}">
                <a16:creationId xmlns:a16="http://schemas.microsoft.com/office/drawing/2014/main" id="{352926D6-5F0D-2140-0220-E89FA7937FC2}"/>
              </a:ext>
            </a:extLst>
          </p:cNvPr>
          <p:cNvPicPr>
            <a:picLocks noChangeAspect="1"/>
          </p:cNvPicPr>
          <p:nvPr/>
        </p:nvPicPr>
        <p:blipFill>
          <a:blip r:embed="rId2"/>
          <a:stretch>
            <a:fillRect/>
          </a:stretch>
        </p:blipFill>
        <p:spPr>
          <a:xfrm>
            <a:off x="3928256" y="2281416"/>
            <a:ext cx="7362701" cy="4075781"/>
          </a:xfrm>
          <a:prstGeom prst="rect">
            <a:avLst/>
          </a:prstGeom>
          <a:ln w="28575">
            <a:solidFill>
              <a:schemeClr val="tx1"/>
            </a:solidFill>
          </a:ln>
        </p:spPr>
      </p:pic>
      <p:sp>
        <p:nvSpPr>
          <p:cNvPr id="6" name="TextBox 5">
            <a:extLst>
              <a:ext uri="{FF2B5EF4-FFF2-40B4-BE49-F238E27FC236}">
                <a16:creationId xmlns:a16="http://schemas.microsoft.com/office/drawing/2014/main" id="{13D727B0-F3E5-75B5-B27A-663C9042FBF8}"/>
              </a:ext>
            </a:extLst>
          </p:cNvPr>
          <p:cNvSpPr txBox="1"/>
          <p:nvPr/>
        </p:nvSpPr>
        <p:spPr>
          <a:xfrm>
            <a:off x="390403" y="2281416"/>
            <a:ext cx="3093700" cy="3785652"/>
          </a:xfrm>
          <a:prstGeom prst="rect">
            <a:avLst/>
          </a:prstGeom>
          <a:noFill/>
        </p:spPr>
        <p:txBody>
          <a:bodyPr wrap="square" rtlCol="0">
            <a:spAutoFit/>
          </a:bodyPr>
          <a:lstStyle/>
          <a:p>
            <a:r>
              <a:rPr lang="en-US" sz="2400" b="1" dirty="0"/>
              <a:t>On Left. Editor with three tabs open.</a:t>
            </a:r>
          </a:p>
          <a:p>
            <a:r>
              <a:rPr lang="en-US" sz="2400" dirty="0"/>
              <a:t>- </a:t>
            </a:r>
            <a:r>
              <a:rPr lang="en-US" sz="2400" dirty="0" err="1"/>
              <a:t>example.html</a:t>
            </a:r>
            <a:endParaRPr lang="en-US" sz="2400" dirty="0"/>
          </a:p>
          <a:p>
            <a:r>
              <a:rPr lang="en-US" sz="2400" dirty="0"/>
              <a:t>- </a:t>
            </a:r>
            <a:r>
              <a:rPr lang="en-US" sz="2400" dirty="0" err="1"/>
              <a:t>example.css</a:t>
            </a:r>
            <a:endParaRPr lang="en-US" sz="2400" dirty="0"/>
          </a:p>
          <a:p>
            <a:r>
              <a:rPr lang="en-US" sz="2400" dirty="0"/>
              <a:t>- </a:t>
            </a:r>
            <a:r>
              <a:rPr lang="en-US" sz="2400" dirty="0" err="1"/>
              <a:t>example.js</a:t>
            </a:r>
            <a:endParaRPr lang="en-US" sz="2400" dirty="0"/>
          </a:p>
          <a:p>
            <a:endParaRPr lang="en-US" sz="2400" dirty="0"/>
          </a:p>
          <a:p>
            <a:r>
              <a:rPr lang="en-US" sz="2400" b="1" dirty="0"/>
              <a:t>On Right. </a:t>
            </a:r>
            <a:br>
              <a:rPr lang="en-US" sz="2400" b="1" dirty="0"/>
            </a:br>
            <a:r>
              <a:rPr lang="en-US" sz="2400" dirty="0"/>
              <a:t>Webpage open in local browser with developer console. </a:t>
            </a:r>
            <a:endParaRPr lang="en-US" dirty="0"/>
          </a:p>
        </p:txBody>
      </p:sp>
      <p:sp>
        <p:nvSpPr>
          <p:cNvPr id="7" name="Content Placeholder 2">
            <a:extLst>
              <a:ext uri="{FF2B5EF4-FFF2-40B4-BE49-F238E27FC236}">
                <a16:creationId xmlns:a16="http://schemas.microsoft.com/office/drawing/2014/main" id="{92485E06-FA65-6177-9DA7-DBF17D5A4649}"/>
              </a:ext>
            </a:extLst>
          </p:cNvPr>
          <p:cNvSpPr>
            <a:spLocks noGrp="1"/>
          </p:cNvSpPr>
          <p:nvPr>
            <p:ph idx="1"/>
          </p:nvPr>
        </p:nvSpPr>
        <p:spPr>
          <a:xfrm>
            <a:off x="390403" y="1441941"/>
            <a:ext cx="10515600" cy="632567"/>
          </a:xfrm>
        </p:spPr>
        <p:txBody>
          <a:bodyPr/>
          <a:lstStyle/>
          <a:p>
            <a:pPr marL="0" indent="0">
              <a:buNone/>
            </a:pPr>
            <a:r>
              <a:rPr lang="en-US" dirty="0"/>
              <a:t>Traditionally, we have three components: HTML, CSS, and JavaScript</a:t>
            </a:r>
          </a:p>
        </p:txBody>
      </p:sp>
    </p:spTree>
    <p:extLst>
      <p:ext uri="{BB962C8B-B14F-4D97-AF65-F5344CB8AC3E}">
        <p14:creationId xmlns:p14="http://schemas.microsoft.com/office/powerpoint/2010/main" val="3205666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142EC-907F-8215-D00D-7C309F3A0EE0}"/>
              </a:ext>
            </a:extLst>
          </p:cNvPr>
          <p:cNvSpPr>
            <a:spLocks noGrp="1"/>
          </p:cNvSpPr>
          <p:nvPr>
            <p:ph type="title"/>
          </p:nvPr>
        </p:nvSpPr>
        <p:spPr>
          <a:xfrm>
            <a:off x="580596" y="337542"/>
            <a:ext cx="10515600" cy="1325563"/>
          </a:xfrm>
        </p:spPr>
        <p:txBody>
          <a:bodyPr/>
          <a:lstStyle/>
          <a:p>
            <a:r>
              <a:rPr lang="en-US" dirty="0"/>
              <a:t>HTML: Elements and Tags</a:t>
            </a:r>
          </a:p>
        </p:txBody>
      </p:sp>
      <p:sp>
        <p:nvSpPr>
          <p:cNvPr id="3" name="Content Placeholder 2">
            <a:extLst>
              <a:ext uri="{FF2B5EF4-FFF2-40B4-BE49-F238E27FC236}">
                <a16:creationId xmlns:a16="http://schemas.microsoft.com/office/drawing/2014/main" id="{F1C82D54-698A-41BA-2655-80B3947C8A08}"/>
              </a:ext>
            </a:extLst>
          </p:cNvPr>
          <p:cNvSpPr>
            <a:spLocks noGrp="1"/>
          </p:cNvSpPr>
          <p:nvPr>
            <p:ph idx="1"/>
          </p:nvPr>
        </p:nvSpPr>
        <p:spPr>
          <a:xfrm>
            <a:off x="580596" y="2699961"/>
            <a:ext cx="3626921" cy="4351338"/>
          </a:xfrm>
        </p:spPr>
        <p:txBody>
          <a:bodyPr/>
          <a:lstStyle/>
          <a:p>
            <a:r>
              <a:rPr lang="en-US" dirty="0"/>
              <a:t>Elements usually have start and end tags.</a:t>
            </a:r>
          </a:p>
          <a:p>
            <a:r>
              <a:rPr lang="en-US" dirty="0"/>
              <a:t>Within the tags you can specify ids,</a:t>
            </a:r>
            <a:br>
              <a:rPr lang="en-US" dirty="0"/>
            </a:br>
            <a:r>
              <a:rPr lang="en-US" dirty="0"/>
              <a:t>classes, and other attributes depending</a:t>
            </a:r>
            <a:br>
              <a:rPr lang="en-US" dirty="0"/>
            </a:br>
            <a:r>
              <a:rPr lang="en-US" dirty="0"/>
              <a:t>on the type of element.	</a:t>
            </a:r>
          </a:p>
        </p:txBody>
      </p:sp>
      <p:pic>
        <p:nvPicPr>
          <p:cNvPr id="7" name="Picture 6">
            <a:extLst>
              <a:ext uri="{FF2B5EF4-FFF2-40B4-BE49-F238E27FC236}">
                <a16:creationId xmlns:a16="http://schemas.microsoft.com/office/drawing/2014/main" id="{66D61FC7-A39A-05A0-0D68-31877287F3BA}"/>
              </a:ext>
            </a:extLst>
          </p:cNvPr>
          <p:cNvPicPr>
            <a:picLocks noChangeAspect="1"/>
          </p:cNvPicPr>
          <p:nvPr/>
        </p:nvPicPr>
        <p:blipFill rotWithShape="1">
          <a:blip r:embed="rId2"/>
          <a:srcRect b="30334"/>
          <a:stretch/>
        </p:blipFill>
        <p:spPr>
          <a:xfrm>
            <a:off x="4539463" y="2699961"/>
            <a:ext cx="7359612" cy="2961917"/>
          </a:xfrm>
          <a:prstGeom prst="rect">
            <a:avLst/>
          </a:prstGeom>
          <a:ln w="19050">
            <a:solidFill>
              <a:schemeClr val="tx1"/>
            </a:solidFill>
          </a:ln>
        </p:spPr>
      </p:pic>
      <p:sp>
        <p:nvSpPr>
          <p:cNvPr id="9" name="TextBox 8">
            <a:extLst>
              <a:ext uri="{FF2B5EF4-FFF2-40B4-BE49-F238E27FC236}">
                <a16:creationId xmlns:a16="http://schemas.microsoft.com/office/drawing/2014/main" id="{D25ED5DB-AC5B-1BBE-E33F-D27FAB30F4C5}"/>
              </a:ext>
            </a:extLst>
          </p:cNvPr>
          <p:cNvSpPr txBox="1"/>
          <p:nvPr/>
        </p:nvSpPr>
        <p:spPr>
          <a:xfrm>
            <a:off x="4318166" y="5661878"/>
            <a:ext cx="7580909" cy="830997"/>
          </a:xfrm>
          <a:prstGeom prst="rect">
            <a:avLst/>
          </a:prstGeom>
          <a:noFill/>
        </p:spPr>
        <p:txBody>
          <a:bodyPr wrap="square">
            <a:spAutoFit/>
          </a:bodyPr>
          <a:lstStyle/>
          <a:p>
            <a:pPr lvl="1"/>
            <a:r>
              <a:rPr lang="en-US" sz="2400" dirty="0"/>
              <a:t>Example: With the image tag, you can specify a path to the image file and the size of the image. </a:t>
            </a:r>
            <a:r>
              <a:rPr lang="en-US" sz="2400" dirty="0">
                <a:hlinkClick r:id="rId3"/>
              </a:rPr>
              <a:t>Try it Out.</a:t>
            </a:r>
            <a:endParaRPr lang="en-US" sz="2400" dirty="0"/>
          </a:p>
        </p:txBody>
      </p:sp>
      <p:sp>
        <p:nvSpPr>
          <p:cNvPr id="11" name="TextBox 10">
            <a:extLst>
              <a:ext uri="{FF2B5EF4-FFF2-40B4-BE49-F238E27FC236}">
                <a16:creationId xmlns:a16="http://schemas.microsoft.com/office/drawing/2014/main" id="{9C973FB7-061F-D42C-11C1-2C341F8C73E8}"/>
              </a:ext>
            </a:extLst>
          </p:cNvPr>
          <p:cNvSpPr txBox="1"/>
          <p:nvPr/>
        </p:nvSpPr>
        <p:spPr>
          <a:xfrm>
            <a:off x="580596" y="1813799"/>
            <a:ext cx="11353800" cy="584775"/>
          </a:xfrm>
          <a:prstGeom prst="rect">
            <a:avLst/>
          </a:prstGeom>
          <a:noFill/>
        </p:spPr>
        <p:txBody>
          <a:bodyPr wrap="square">
            <a:spAutoFit/>
          </a:bodyPr>
          <a:lstStyle/>
          <a:p>
            <a:r>
              <a:rPr lang="en-US" sz="3200" dirty="0"/>
              <a:t>Elements are the basis of HTML pages. </a:t>
            </a:r>
            <a:r>
              <a:rPr lang="en-US" sz="3200" dirty="0">
                <a:hlinkClick r:id="rId4"/>
              </a:rPr>
              <a:t>List of Many Element Types</a:t>
            </a:r>
            <a:endParaRPr lang="en-US" sz="3200" dirty="0"/>
          </a:p>
        </p:txBody>
      </p:sp>
    </p:spTree>
    <p:extLst>
      <p:ext uri="{BB962C8B-B14F-4D97-AF65-F5344CB8AC3E}">
        <p14:creationId xmlns:p14="http://schemas.microsoft.com/office/powerpoint/2010/main" val="4237465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CC155-6848-5332-89AC-F21B5AE37872}"/>
              </a:ext>
            </a:extLst>
          </p:cNvPr>
          <p:cNvSpPr>
            <a:spLocks noGrp="1"/>
          </p:cNvSpPr>
          <p:nvPr>
            <p:ph type="title"/>
          </p:nvPr>
        </p:nvSpPr>
        <p:spPr>
          <a:xfrm>
            <a:off x="535361" y="377246"/>
            <a:ext cx="10515600" cy="1325563"/>
          </a:xfrm>
        </p:spPr>
        <p:txBody>
          <a:bodyPr/>
          <a:lstStyle/>
          <a:p>
            <a:r>
              <a:rPr lang="en-US" dirty="0"/>
              <a:t>Cascading Style Sheets (CSS)</a:t>
            </a:r>
          </a:p>
        </p:txBody>
      </p:sp>
      <p:pic>
        <p:nvPicPr>
          <p:cNvPr id="5" name="Picture 4" descr="A screen shot of CSS. Style is applied to type of selectors, classes, and ids.">
            <a:extLst>
              <a:ext uri="{FF2B5EF4-FFF2-40B4-BE49-F238E27FC236}">
                <a16:creationId xmlns:a16="http://schemas.microsoft.com/office/drawing/2014/main" id="{9E707F47-BDA6-BE8B-C6C2-C4AD4770CBA8}"/>
              </a:ext>
            </a:extLst>
          </p:cNvPr>
          <p:cNvPicPr>
            <a:picLocks noChangeAspect="1"/>
          </p:cNvPicPr>
          <p:nvPr/>
        </p:nvPicPr>
        <p:blipFill rotWithShape="1">
          <a:blip r:embed="rId3"/>
          <a:srcRect l="64"/>
          <a:stretch/>
        </p:blipFill>
        <p:spPr>
          <a:xfrm>
            <a:off x="7396103" y="2218799"/>
            <a:ext cx="3788849" cy="4351338"/>
          </a:xfrm>
          <a:prstGeom prst="rect">
            <a:avLst/>
          </a:prstGeom>
          <a:ln w="19050">
            <a:solidFill>
              <a:schemeClr val="tx1"/>
            </a:solidFill>
          </a:ln>
        </p:spPr>
      </p:pic>
      <p:pic>
        <p:nvPicPr>
          <p:cNvPr id="7" name="Picture 6" descr="A screenshot of the resulting webpage. 1. We set the background-color to cream.2. We set the header color to pink.3. All elements with the ”classExample” class will have font size 24 and the blue color.4. We changed the type of font for individual divs with their own id.&#10;">
            <a:extLst>
              <a:ext uri="{FF2B5EF4-FFF2-40B4-BE49-F238E27FC236}">
                <a16:creationId xmlns:a16="http://schemas.microsoft.com/office/drawing/2014/main" id="{5DB386E4-9E8E-F2D4-655C-29C50ED60E90}"/>
              </a:ext>
            </a:extLst>
          </p:cNvPr>
          <p:cNvPicPr>
            <a:picLocks noChangeAspect="1"/>
          </p:cNvPicPr>
          <p:nvPr/>
        </p:nvPicPr>
        <p:blipFill rotWithShape="1">
          <a:blip r:embed="rId4"/>
          <a:srcRect b="44595"/>
          <a:stretch/>
        </p:blipFill>
        <p:spPr>
          <a:xfrm>
            <a:off x="8651626" y="287863"/>
            <a:ext cx="3005013" cy="1764242"/>
          </a:xfrm>
          <a:prstGeom prst="rect">
            <a:avLst/>
          </a:prstGeom>
          <a:ln w="19050">
            <a:solidFill>
              <a:schemeClr val="tx1"/>
            </a:solidFill>
          </a:ln>
        </p:spPr>
      </p:pic>
      <p:sp>
        <p:nvSpPr>
          <p:cNvPr id="10" name="TextBox 9">
            <a:extLst>
              <a:ext uri="{FF2B5EF4-FFF2-40B4-BE49-F238E27FC236}">
                <a16:creationId xmlns:a16="http://schemas.microsoft.com/office/drawing/2014/main" id="{FE87BA4F-341D-18E8-409B-A7C43805178C}"/>
              </a:ext>
            </a:extLst>
          </p:cNvPr>
          <p:cNvSpPr txBox="1"/>
          <p:nvPr/>
        </p:nvSpPr>
        <p:spPr>
          <a:xfrm>
            <a:off x="535361" y="1527758"/>
            <a:ext cx="8236106" cy="1077218"/>
          </a:xfrm>
          <a:prstGeom prst="rect">
            <a:avLst/>
          </a:prstGeom>
          <a:noFill/>
        </p:spPr>
        <p:txBody>
          <a:bodyPr wrap="square">
            <a:spAutoFit/>
          </a:bodyPr>
          <a:lstStyle/>
          <a:p>
            <a:r>
              <a:rPr lang="en-US" sz="3200" b="1" dirty="0"/>
              <a:t>Use selectors to apply attributes to specific elements.</a:t>
            </a:r>
          </a:p>
        </p:txBody>
      </p:sp>
      <p:pic>
        <p:nvPicPr>
          <p:cNvPr id="12" name="Picture 11" descr="A screen shot of the HTML code. Divs have class and or ids added to them which are relevant for the styling.">
            <a:extLst>
              <a:ext uri="{FF2B5EF4-FFF2-40B4-BE49-F238E27FC236}">
                <a16:creationId xmlns:a16="http://schemas.microsoft.com/office/drawing/2014/main" id="{58916188-846E-6F8B-D658-13E7BF17977C}"/>
              </a:ext>
            </a:extLst>
          </p:cNvPr>
          <p:cNvPicPr>
            <a:picLocks noChangeAspect="1"/>
          </p:cNvPicPr>
          <p:nvPr/>
        </p:nvPicPr>
        <p:blipFill rotWithShape="1">
          <a:blip r:embed="rId5"/>
          <a:srcRect t="3589"/>
          <a:stretch/>
        </p:blipFill>
        <p:spPr>
          <a:xfrm>
            <a:off x="1007048" y="3186156"/>
            <a:ext cx="5954982" cy="3383981"/>
          </a:xfrm>
          <a:prstGeom prst="rect">
            <a:avLst/>
          </a:prstGeom>
          <a:ln w="12700">
            <a:solidFill>
              <a:schemeClr val="tx1"/>
            </a:solidFill>
          </a:ln>
        </p:spPr>
      </p:pic>
    </p:spTree>
    <p:extLst>
      <p:ext uri="{BB962C8B-B14F-4D97-AF65-F5344CB8AC3E}">
        <p14:creationId xmlns:p14="http://schemas.microsoft.com/office/powerpoint/2010/main" val="4079889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7C025-A069-FA45-8130-7604066AC963}"/>
              </a:ext>
            </a:extLst>
          </p:cNvPr>
          <p:cNvSpPr>
            <a:spLocks noGrp="1"/>
          </p:cNvSpPr>
          <p:nvPr>
            <p:ph type="title"/>
          </p:nvPr>
        </p:nvSpPr>
        <p:spPr/>
        <p:txBody>
          <a:bodyPr/>
          <a:lstStyle/>
          <a:p>
            <a:r>
              <a:rPr lang="en-US" dirty="0"/>
              <a:t>Positioning Elements</a:t>
            </a:r>
          </a:p>
        </p:txBody>
      </p:sp>
      <p:sp>
        <p:nvSpPr>
          <p:cNvPr id="3" name="Content Placeholder 2">
            <a:extLst>
              <a:ext uri="{FF2B5EF4-FFF2-40B4-BE49-F238E27FC236}">
                <a16:creationId xmlns:a16="http://schemas.microsoft.com/office/drawing/2014/main" id="{7E37253D-4286-F1CB-1F41-B1CCD71288F2}"/>
              </a:ext>
            </a:extLst>
          </p:cNvPr>
          <p:cNvSpPr>
            <a:spLocks noGrp="1"/>
          </p:cNvSpPr>
          <p:nvPr>
            <p:ph idx="1"/>
          </p:nvPr>
        </p:nvSpPr>
        <p:spPr/>
        <p:txBody>
          <a:bodyPr/>
          <a:lstStyle/>
          <a:p>
            <a:r>
              <a:rPr lang="en-US" dirty="0"/>
              <a:t>Flexbox: </a:t>
            </a:r>
            <a:r>
              <a:rPr lang="en-US" dirty="0">
                <a:hlinkClick r:id="rId2"/>
              </a:rPr>
              <a:t>Flexbox Froggy</a:t>
            </a:r>
            <a:endParaRPr lang="en-US" dirty="0"/>
          </a:p>
          <a:p>
            <a:r>
              <a:rPr lang="en-US" dirty="0"/>
              <a:t>Remember to check how your web page looks for mobile users and varied browser sizes. (Browser Inspectors have tools for this.)</a:t>
            </a:r>
          </a:p>
        </p:txBody>
      </p:sp>
      <p:pic>
        <p:nvPicPr>
          <p:cNvPr id="4" name="Picture 3" descr="Screenshot of flexbox froggy. Frogs on the right  side of screen move around based on how you write the CSS code on the left side of the screen.">
            <a:extLst>
              <a:ext uri="{FF2B5EF4-FFF2-40B4-BE49-F238E27FC236}">
                <a16:creationId xmlns:a16="http://schemas.microsoft.com/office/drawing/2014/main" id="{FBB9A23F-5312-7C65-3CF8-49E50682C284}"/>
              </a:ext>
            </a:extLst>
          </p:cNvPr>
          <p:cNvPicPr>
            <a:picLocks noChangeAspect="1"/>
          </p:cNvPicPr>
          <p:nvPr/>
        </p:nvPicPr>
        <p:blipFill>
          <a:blip r:embed="rId3"/>
          <a:stretch>
            <a:fillRect/>
          </a:stretch>
        </p:blipFill>
        <p:spPr>
          <a:xfrm>
            <a:off x="938660" y="3583946"/>
            <a:ext cx="10314680" cy="2368428"/>
          </a:xfrm>
          <a:prstGeom prst="rect">
            <a:avLst/>
          </a:prstGeom>
          <a:ln w="28575">
            <a:solidFill>
              <a:schemeClr val="tx1"/>
            </a:solidFill>
          </a:ln>
        </p:spPr>
      </p:pic>
    </p:spTree>
    <p:extLst>
      <p:ext uri="{BB962C8B-B14F-4D97-AF65-F5344CB8AC3E}">
        <p14:creationId xmlns:p14="http://schemas.microsoft.com/office/powerpoint/2010/main" val="2098312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FA0AF-6E73-50E7-0903-597B5FF36EDD}"/>
              </a:ext>
            </a:extLst>
          </p:cNvPr>
          <p:cNvSpPr>
            <a:spLocks noGrp="1"/>
          </p:cNvSpPr>
          <p:nvPr>
            <p:ph type="title"/>
          </p:nvPr>
        </p:nvSpPr>
        <p:spPr/>
        <p:txBody>
          <a:bodyPr/>
          <a:lstStyle/>
          <a:p>
            <a:r>
              <a:rPr lang="en-US" dirty="0"/>
              <a:t>JavaScript Functions</a:t>
            </a:r>
          </a:p>
        </p:txBody>
      </p:sp>
      <p:sp>
        <p:nvSpPr>
          <p:cNvPr id="3" name="Content Placeholder 2">
            <a:extLst>
              <a:ext uri="{FF2B5EF4-FFF2-40B4-BE49-F238E27FC236}">
                <a16:creationId xmlns:a16="http://schemas.microsoft.com/office/drawing/2014/main" id="{F1E637F7-8D64-4CE5-C46C-346C1FA8B2A4}"/>
              </a:ext>
            </a:extLst>
          </p:cNvPr>
          <p:cNvSpPr>
            <a:spLocks noGrp="1"/>
          </p:cNvSpPr>
          <p:nvPr>
            <p:ph idx="1"/>
          </p:nvPr>
        </p:nvSpPr>
        <p:spPr/>
        <p:txBody>
          <a:bodyPr/>
          <a:lstStyle/>
          <a:p>
            <a:r>
              <a:rPr lang="en-US" dirty="0"/>
              <a:t>You can use JavaScript to add some interactivity to your website.</a:t>
            </a:r>
          </a:p>
          <a:p>
            <a:r>
              <a:rPr lang="en-US" dirty="0"/>
              <a:t>Example: Do something when you press a button.</a:t>
            </a:r>
          </a:p>
        </p:txBody>
      </p:sp>
      <p:pic>
        <p:nvPicPr>
          <p:cNvPr id="5" name="Picture 4" descr="A screen shot of javascript function called submitGuess. This function is called when you click on the button in the HTML file. We see that when the function runs, it will change different parts of the HTML page.">
            <a:extLst>
              <a:ext uri="{FF2B5EF4-FFF2-40B4-BE49-F238E27FC236}">
                <a16:creationId xmlns:a16="http://schemas.microsoft.com/office/drawing/2014/main" id="{F0D3E01E-A383-40F6-AC07-4031387CF97B}"/>
              </a:ext>
            </a:extLst>
          </p:cNvPr>
          <p:cNvPicPr>
            <a:picLocks noChangeAspect="1"/>
          </p:cNvPicPr>
          <p:nvPr/>
        </p:nvPicPr>
        <p:blipFill>
          <a:blip r:embed="rId3"/>
          <a:stretch>
            <a:fillRect/>
          </a:stretch>
        </p:blipFill>
        <p:spPr>
          <a:xfrm>
            <a:off x="5760658" y="4258976"/>
            <a:ext cx="6152737" cy="2258505"/>
          </a:xfrm>
          <a:prstGeom prst="rect">
            <a:avLst/>
          </a:prstGeom>
          <a:ln w="28575">
            <a:solidFill>
              <a:schemeClr val="tx1"/>
            </a:solidFill>
          </a:ln>
        </p:spPr>
      </p:pic>
      <p:pic>
        <p:nvPicPr>
          <p:cNvPr id="6" name="Picture 5" descr="Screenshot of part of HTML page. Focus is on button div which has an on-click function.">
            <a:extLst>
              <a:ext uri="{FF2B5EF4-FFF2-40B4-BE49-F238E27FC236}">
                <a16:creationId xmlns:a16="http://schemas.microsoft.com/office/drawing/2014/main" id="{852D5B36-03BA-6CB7-0FA5-A520C8776241}"/>
              </a:ext>
            </a:extLst>
          </p:cNvPr>
          <p:cNvPicPr>
            <a:picLocks noChangeAspect="1"/>
          </p:cNvPicPr>
          <p:nvPr/>
        </p:nvPicPr>
        <p:blipFill>
          <a:blip r:embed="rId4"/>
          <a:stretch>
            <a:fillRect/>
          </a:stretch>
        </p:blipFill>
        <p:spPr>
          <a:xfrm>
            <a:off x="1255058" y="2817177"/>
            <a:ext cx="9011201" cy="1266953"/>
          </a:xfrm>
          <a:prstGeom prst="rect">
            <a:avLst/>
          </a:prstGeom>
          <a:ln w="28575">
            <a:solidFill>
              <a:schemeClr val="tx1"/>
            </a:solidFill>
          </a:ln>
        </p:spPr>
      </p:pic>
      <p:sp>
        <p:nvSpPr>
          <p:cNvPr id="7" name="TextBox 6">
            <a:extLst>
              <a:ext uri="{FF2B5EF4-FFF2-40B4-BE49-F238E27FC236}">
                <a16:creationId xmlns:a16="http://schemas.microsoft.com/office/drawing/2014/main" id="{CA2C7BF4-FD09-1817-1C01-994E1B735060}"/>
              </a:ext>
            </a:extLst>
          </p:cNvPr>
          <p:cNvSpPr txBox="1"/>
          <p:nvPr/>
        </p:nvSpPr>
        <p:spPr>
          <a:xfrm>
            <a:off x="278605" y="4180344"/>
            <a:ext cx="5384140" cy="2677656"/>
          </a:xfrm>
          <a:prstGeom prst="rect">
            <a:avLst/>
          </a:prstGeom>
          <a:noFill/>
        </p:spPr>
        <p:txBody>
          <a:bodyPr wrap="square" rtlCol="0">
            <a:spAutoFit/>
          </a:bodyPr>
          <a:lstStyle/>
          <a:p>
            <a:r>
              <a:rPr lang="en-US" sz="2400" dirty="0"/>
              <a:t>1) In our HTML file, we add an onclick function to the relevant the button.</a:t>
            </a:r>
            <a:br>
              <a:rPr lang="en-US" sz="2400" dirty="0"/>
            </a:br>
            <a:endParaRPr lang="en-US" sz="2400" dirty="0"/>
          </a:p>
          <a:p>
            <a:r>
              <a:rPr lang="en-US" sz="2400" dirty="0"/>
              <a:t>2) Then, in our linked JavaScript file, we write the function.</a:t>
            </a:r>
            <a:br>
              <a:rPr lang="en-US" sz="2400" dirty="0"/>
            </a:br>
            <a:r>
              <a:rPr lang="en-US" sz="2400" b="1" dirty="0"/>
              <a:t>Note: </a:t>
            </a:r>
            <a:r>
              <a:rPr lang="en-US" sz="2400" dirty="0"/>
              <a:t>We can dynamically change </a:t>
            </a:r>
            <a:br>
              <a:rPr lang="en-US" sz="2400" dirty="0"/>
            </a:br>
            <a:r>
              <a:rPr lang="en-US" sz="2400" dirty="0"/>
              <a:t>our HTML elements too.</a:t>
            </a:r>
          </a:p>
        </p:txBody>
      </p:sp>
      <p:cxnSp>
        <p:nvCxnSpPr>
          <p:cNvPr id="9" name="Straight Arrow Connector 8">
            <a:extLst>
              <a:ext uri="{FF2B5EF4-FFF2-40B4-BE49-F238E27FC236}">
                <a16:creationId xmlns:a16="http://schemas.microsoft.com/office/drawing/2014/main" id="{9B5A637F-658D-D696-09F2-A21EDA0F4E09}"/>
              </a:ext>
            </a:extLst>
          </p:cNvPr>
          <p:cNvCxnSpPr>
            <a:cxnSpLocks/>
          </p:cNvCxnSpPr>
          <p:nvPr/>
        </p:nvCxnSpPr>
        <p:spPr>
          <a:xfrm flipV="1">
            <a:off x="5095379" y="3767967"/>
            <a:ext cx="0" cy="60960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2CA5753-69DF-CEEF-1F3D-13A37399A67C}"/>
              </a:ext>
            </a:extLst>
          </p:cNvPr>
          <p:cNvCxnSpPr>
            <a:cxnSpLocks/>
          </p:cNvCxnSpPr>
          <p:nvPr/>
        </p:nvCxnSpPr>
        <p:spPr>
          <a:xfrm flipV="1">
            <a:off x="4733365" y="4377567"/>
            <a:ext cx="1524000" cy="95079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0269168-516E-E29C-807D-62075670C37F}"/>
              </a:ext>
            </a:extLst>
          </p:cNvPr>
          <p:cNvCxnSpPr>
            <a:cxnSpLocks/>
          </p:cNvCxnSpPr>
          <p:nvPr/>
        </p:nvCxnSpPr>
        <p:spPr>
          <a:xfrm flipV="1">
            <a:off x="4733365" y="5621794"/>
            <a:ext cx="1667435" cy="745584"/>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6709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D5723-CA2D-2F59-4741-E46CF48574AC}"/>
              </a:ext>
            </a:extLst>
          </p:cNvPr>
          <p:cNvSpPr>
            <a:spLocks noGrp="1"/>
          </p:cNvSpPr>
          <p:nvPr>
            <p:ph type="title"/>
          </p:nvPr>
        </p:nvSpPr>
        <p:spPr/>
        <p:txBody>
          <a:bodyPr/>
          <a:lstStyle/>
          <a:p>
            <a:r>
              <a:rPr lang="en-US" dirty="0"/>
              <a:t>Developer Console</a:t>
            </a:r>
          </a:p>
        </p:txBody>
      </p:sp>
      <p:sp>
        <p:nvSpPr>
          <p:cNvPr id="3" name="Content Placeholder 2">
            <a:extLst>
              <a:ext uri="{FF2B5EF4-FFF2-40B4-BE49-F238E27FC236}">
                <a16:creationId xmlns:a16="http://schemas.microsoft.com/office/drawing/2014/main" id="{72CF959C-88BF-CBC2-5A00-DCDF52B9CF41}"/>
              </a:ext>
            </a:extLst>
          </p:cNvPr>
          <p:cNvSpPr>
            <a:spLocks noGrp="1"/>
          </p:cNvSpPr>
          <p:nvPr>
            <p:ph idx="1"/>
          </p:nvPr>
        </p:nvSpPr>
        <p:spPr>
          <a:xfrm>
            <a:off x="838201" y="1825625"/>
            <a:ext cx="5835316" cy="4351338"/>
          </a:xfrm>
        </p:spPr>
        <p:txBody>
          <a:bodyPr/>
          <a:lstStyle/>
          <a:p>
            <a:r>
              <a:rPr lang="en-US" dirty="0"/>
              <a:t>Browsers have built in tools (often found with “Inspect” or “Developer Console”). </a:t>
            </a:r>
          </a:p>
          <a:p>
            <a:r>
              <a:rPr lang="en-US" dirty="0"/>
              <a:t>Have many useful tools for web development.</a:t>
            </a:r>
          </a:p>
          <a:p>
            <a:pPr lvl="1"/>
            <a:r>
              <a:rPr lang="en-US" dirty="0"/>
              <a:t>Example: Chrome Browser has </a:t>
            </a:r>
            <a:r>
              <a:rPr lang="en-US" dirty="0">
                <a:hlinkClick r:id="rId2"/>
              </a:rPr>
              <a:t>Lighthouse Audit</a:t>
            </a:r>
            <a:r>
              <a:rPr lang="en-US" dirty="0"/>
              <a:t> to check site Performance, Accessibility, Best Practices, and Search Engine Optimization.</a:t>
            </a:r>
          </a:p>
          <a:p>
            <a:pPr lvl="1"/>
            <a:endParaRPr lang="en-US" dirty="0"/>
          </a:p>
        </p:txBody>
      </p:sp>
      <p:pic>
        <p:nvPicPr>
          <p:cNvPr id="5" name="Picture 4" descr="A screenshot of running the Chrome Lighthouse Audit on the University at Albany website. It scored 54 on Performance, 100 on Accessibility, 96 on Best Practices, and 92 on SEO.">
            <a:extLst>
              <a:ext uri="{FF2B5EF4-FFF2-40B4-BE49-F238E27FC236}">
                <a16:creationId xmlns:a16="http://schemas.microsoft.com/office/drawing/2014/main" id="{AB5BE82E-86B7-CF68-96DA-713A7129CDF2}"/>
              </a:ext>
            </a:extLst>
          </p:cNvPr>
          <p:cNvPicPr>
            <a:picLocks noChangeAspect="1"/>
          </p:cNvPicPr>
          <p:nvPr/>
        </p:nvPicPr>
        <p:blipFill>
          <a:blip r:embed="rId3"/>
          <a:stretch>
            <a:fillRect/>
          </a:stretch>
        </p:blipFill>
        <p:spPr>
          <a:xfrm>
            <a:off x="5975684" y="3046958"/>
            <a:ext cx="5835316" cy="3264942"/>
          </a:xfrm>
          <a:prstGeom prst="rect">
            <a:avLst/>
          </a:prstGeom>
          <a:ln w="28575">
            <a:solidFill>
              <a:schemeClr val="tx1"/>
            </a:solidFill>
          </a:ln>
        </p:spPr>
      </p:pic>
    </p:spTree>
    <p:extLst>
      <p:ext uri="{BB962C8B-B14F-4D97-AF65-F5344CB8AC3E}">
        <p14:creationId xmlns:p14="http://schemas.microsoft.com/office/powerpoint/2010/main" val="818168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FC49E-952F-56E6-C465-27B4798DB099}"/>
              </a:ext>
            </a:extLst>
          </p:cNvPr>
          <p:cNvSpPr>
            <a:spLocks noGrp="1"/>
          </p:cNvSpPr>
          <p:nvPr>
            <p:ph type="title"/>
          </p:nvPr>
        </p:nvSpPr>
        <p:spPr/>
        <p:txBody>
          <a:bodyPr/>
          <a:lstStyle/>
          <a:p>
            <a:r>
              <a:rPr lang="en-US" dirty="0"/>
              <a:t>Colors!</a:t>
            </a:r>
          </a:p>
        </p:txBody>
      </p:sp>
      <p:sp>
        <p:nvSpPr>
          <p:cNvPr id="3" name="Content Placeholder 2">
            <a:extLst>
              <a:ext uri="{FF2B5EF4-FFF2-40B4-BE49-F238E27FC236}">
                <a16:creationId xmlns:a16="http://schemas.microsoft.com/office/drawing/2014/main" id="{077D2E20-F431-5B62-1377-CF071DF5D586}"/>
              </a:ext>
            </a:extLst>
          </p:cNvPr>
          <p:cNvSpPr>
            <a:spLocks noGrp="1"/>
          </p:cNvSpPr>
          <p:nvPr>
            <p:ph idx="1"/>
          </p:nvPr>
        </p:nvSpPr>
        <p:spPr>
          <a:xfrm>
            <a:off x="838200" y="1679915"/>
            <a:ext cx="10515600" cy="1325563"/>
          </a:xfrm>
        </p:spPr>
        <p:txBody>
          <a:bodyPr>
            <a:normAutofit lnSpcReduction="10000"/>
          </a:bodyPr>
          <a:lstStyle/>
          <a:p>
            <a:r>
              <a:rPr lang="en-US" dirty="0"/>
              <a:t>Helpful Resource for Choosing a Color Palette: </a:t>
            </a:r>
            <a:r>
              <a:rPr lang="en-US" dirty="0">
                <a:hlinkClick r:id="rId2"/>
              </a:rPr>
              <a:t>Color Hunt</a:t>
            </a:r>
            <a:endParaRPr lang="en-US" dirty="0"/>
          </a:p>
          <a:p>
            <a:r>
              <a:rPr lang="en-US" dirty="0"/>
              <a:t>Tool to Check Accessibility: </a:t>
            </a:r>
            <a:r>
              <a:rPr lang="en-US" dirty="0">
                <a:hlinkClick r:id="rId3"/>
              </a:rPr>
              <a:t>Coloring for Colorblindness</a:t>
            </a:r>
            <a:endParaRPr lang="en-US" dirty="0"/>
          </a:p>
          <a:p>
            <a:pPr lvl="1"/>
            <a:r>
              <a:rPr lang="en-US" dirty="0"/>
              <a:t>Text should have clear contrast.</a:t>
            </a:r>
          </a:p>
        </p:txBody>
      </p:sp>
      <p:pic>
        <p:nvPicPr>
          <p:cNvPr id="7" name="Picture 6" descr="Example color palette. Square with four stripes, pink, cream, light blue, and blue.">
            <a:extLst>
              <a:ext uri="{FF2B5EF4-FFF2-40B4-BE49-F238E27FC236}">
                <a16:creationId xmlns:a16="http://schemas.microsoft.com/office/drawing/2014/main" id="{8C784F58-9A12-E167-A9F8-661664872BA7}"/>
              </a:ext>
            </a:extLst>
          </p:cNvPr>
          <p:cNvPicPr>
            <a:picLocks noChangeAspect="1"/>
          </p:cNvPicPr>
          <p:nvPr/>
        </p:nvPicPr>
        <p:blipFill>
          <a:blip r:embed="rId4"/>
          <a:stretch>
            <a:fillRect/>
          </a:stretch>
        </p:blipFill>
        <p:spPr>
          <a:xfrm>
            <a:off x="1252863" y="3190144"/>
            <a:ext cx="2704528" cy="2704528"/>
          </a:xfrm>
          <a:prstGeom prst="rect">
            <a:avLst/>
          </a:prstGeom>
          <a:ln w="28575">
            <a:solidFill>
              <a:schemeClr val="tx1"/>
            </a:solidFill>
          </a:ln>
        </p:spPr>
      </p:pic>
      <p:pic>
        <p:nvPicPr>
          <p:cNvPr id="8" name="Picture 7" descr="Image showing what the example color palette may look like for those with three different types of color blindness.">
            <a:extLst>
              <a:ext uri="{FF2B5EF4-FFF2-40B4-BE49-F238E27FC236}">
                <a16:creationId xmlns:a16="http://schemas.microsoft.com/office/drawing/2014/main" id="{650B3020-1F17-58E4-DE32-B8BD34A425D3}"/>
              </a:ext>
            </a:extLst>
          </p:cNvPr>
          <p:cNvPicPr>
            <a:picLocks noChangeAspect="1"/>
          </p:cNvPicPr>
          <p:nvPr/>
        </p:nvPicPr>
        <p:blipFill>
          <a:blip r:embed="rId5"/>
          <a:stretch>
            <a:fillRect/>
          </a:stretch>
        </p:blipFill>
        <p:spPr>
          <a:xfrm>
            <a:off x="4221216" y="3164173"/>
            <a:ext cx="3024100" cy="2730499"/>
          </a:xfrm>
          <a:prstGeom prst="rect">
            <a:avLst/>
          </a:prstGeom>
          <a:ln w="28575">
            <a:solidFill>
              <a:schemeClr val="tx1"/>
            </a:solidFill>
          </a:ln>
        </p:spPr>
      </p:pic>
      <p:sp>
        <p:nvSpPr>
          <p:cNvPr id="9" name="TextBox 8">
            <a:extLst>
              <a:ext uri="{FF2B5EF4-FFF2-40B4-BE49-F238E27FC236}">
                <a16:creationId xmlns:a16="http://schemas.microsoft.com/office/drawing/2014/main" id="{24D642FF-E5A9-4C98-4A23-4C17DAED58CE}"/>
              </a:ext>
            </a:extLst>
          </p:cNvPr>
          <p:cNvSpPr txBox="1"/>
          <p:nvPr/>
        </p:nvSpPr>
        <p:spPr>
          <a:xfrm>
            <a:off x="7509141" y="3005478"/>
            <a:ext cx="4539082" cy="3416320"/>
          </a:xfrm>
          <a:prstGeom prst="rect">
            <a:avLst/>
          </a:prstGeom>
          <a:noFill/>
        </p:spPr>
        <p:txBody>
          <a:bodyPr wrap="square" rtlCol="0">
            <a:spAutoFit/>
          </a:bodyPr>
          <a:lstStyle/>
          <a:p>
            <a:r>
              <a:rPr lang="en-US" sz="2400" dirty="0"/>
              <a:t>If you’re using this palette, it may be hard for some users to distinguish pink from light blue.</a:t>
            </a:r>
          </a:p>
          <a:p>
            <a:endParaRPr lang="en-US" sz="2400" dirty="0"/>
          </a:p>
          <a:p>
            <a:r>
              <a:rPr lang="en-US" sz="2400" dirty="0"/>
              <a:t>Design buttons, text, etc. with this in mind (e.g. don’t place pink text on a light blue background).</a:t>
            </a:r>
          </a:p>
          <a:p>
            <a:br>
              <a:rPr lang="en-US" sz="2400" dirty="0"/>
            </a:br>
            <a:r>
              <a:rPr lang="en-US" sz="2400" dirty="0"/>
              <a:t>Or consider another palette.</a:t>
            </a:r>
          </a:p>
        </p:txBody>
      </p:sp>
      <p:sp>
        <p:nvSpPr>
          <p:cNvPr id="10" name="TextBox 9">
            <a:extLst>
              <a:ext uri="{FF2B5EF4-FFF2-40B4-BE49-F238E27FC236}">
                <a16:creationId xmlns:a16="http://schemas.microsoft.com/office/drawing/2014/main" id="{153042D8-43F1-DAB0-62D2-16DE62A4FCA7}"/>
              </a:ext>
            </a:extLst>
          </p:cNvPr>
          <p:cNvSpPr txBox="1"/>
          <p:nvPr/>
        </p:nvSpPr>
        <p:spPr>
          <a:xfrm>
            <a:off x="653790" y="3522147"/>
            <a:ext cx="582211" cy="369332"/>
          </a:xfrm>
          <a:prstGeom prst="rect">
            <a:avLst/>
          </a:prstGeom>
          <a:noFill/>
        </p:spPr>
        <p:txBody>
          <a:bodyPr wrap="square" rtlCol="0">
            <a:spAutoFit/>
          </a:bodyPr>
          <a:lstStyle/>
          <a:p>
            <a:r>
              <a:rPr lang="en-US" dirty="0"/>
              <a:t>Pink</a:t>
            </a:r>
          </a:p>
        </p:txBody>
      </p:sp>
      <p:sp>
        <p:nvSpPr>
          <p:cNvPr id="11" name="TextBox 10">
            <a:extLst>
              <a:ext uri="{FF2B5EF4-FFF2-40B4-BE49-F238E27FC236}">
                <a16:creationId xmlns:a16="http://schemas.microsoft.com/office/drawing/2014/main" id="{36FAD3D4-7F89-14DF-2754-A3DD04EFD245}"/>
              </a:ext>
            </a:extLst>
          </p:cNvPr>
          <p:cNvSpPr txBox="1"/>
          <p:nvPr/>
        </p:nvSpPr>
        <p:spPr>
          <a:xfrm>
            <a:off x="440399" y="4447105"/>
            <a:ext cx="795602" cy="369332"/>
          </a:xfrm>
          <a:prstGeom prst="rect">
            <a:avLst/>
          </a:prstGeom>
          <a:noFill/>
        </p:spPr>
        <p:txBody>
          <a:bodyPr wrap="none" rtlCol="0">
            <a:spAutoFit/>
          </a:bodyPr>
          <a:lstStyle/>
          <a:p>
            <a:r>
              <a:rPr lang="en-US" dirty="0"/>
              <a:t>Cream</a:t>
            </a:r>
          </a:p>
        </p:txBody>
      </p:sp>
      <p:sp>
        <p:nvSpPr>
          <p:cNvPr id="12" name="TextBox 11">
            <a:extLst>
              <a:ext uri="{FF2B5EF4-FFF2-40B4-BE49-F238E27FC236}">
                <a16:creationId xmlns:a16="http://schemas.microsoft.com/office/drawing/2014/main" id="{D0A86ED5-3D51-A644-FF2D-1E36FC8C5D44}"/>
              </a:ext>
            </a:extLst>
          </p:cNvPr>
          <p:cNvSpPr txBox="1"/>
          <p:nvPr/>
        </p:nvSpPr>
        <p:spPr>
          <a:xfrm>
            <a:off x="143777" y="5087535"/>
            <a:ext cx="1109086" cy="369332"/>
          </a:xfrm>
          <a:prstGeom prst="rect">
            <a:avLst/>
          </a:prstGeom>
          <a:noFill/>
        </p:spPr>
        <p:txBody>
          <a:bodyPr wrap="none" rtlCol="0">
            <a:spAutoFit/>
          </a:bodyPr>
          <a:lstStyle/>
          <a:p>
            <a:r>
              <a:rPr lang="en-US" dirty="0"/>
              <a:t>Light Blue</a:t>
            </a:r>
          </a:p>
        </p:txBody>
      </p:sp>
      <p:sp>
        <p:nvSpPr>
          <p:cNvPr id="13" name="TextBox 12">
            <a:extLst>
              <a:ext uri="{FF2B5EF4-FFF2-40B4-BE49-F238E27FC236}">
                <a16:creationId xmlns:a16="http://schemas.microsoft.com/office/drawing/2014/main" id="{2C009C98-1F7B-03DC-3EB9-6D2542C2F4B1}"/>
              </a:ext>
            </a:extLst>
          </p:cNvPr>
          <p:cNvSpPr txBox="1"/>
          <p:nvPr/>
        </p:nvSpPr>
        <p:spPr>
          <a:xfrm>
            <a:off x="636157" y="5484596"/>
            <a:ext cx="599844" cy="369332"/>
          </a:xfrm>
          <a:prstGeom prst="rect">
            <a:avLst/>
          </a:prstGeom>
          <a:noFill/>
        </p:spPr>
        <p:txBody>
          <a:bodyPr wrap="none" rtlCol="0">
            <a:spAutoFit/>
          </a:bodyPr>
          <a:lstStyle/>
          <a:p>
            <a:r>
              <a:rPr lang="en-US" dirty="0"/>
              <a:t>Blue</a:t>
            </a:r>
          </a:p>
        </p:txBody>
      </p:sp>
      <p:sp>
        <p:nvSpPr>
          <p:cNvPr id="15" name="TextBox 14">
            <a:extLst>
              <a:ext uri="{FF2B5EF4-FFF2-40B4-BE49-F238E27FC236}">
                <a16:creationId xmlns:a16="http://schemas.microsoft.com/office/drawing/2014/main" id="{7AC4B40C-7F19-C481-A40E-5C1D781226FF}"/>
              </a:ext>
            </a:extLst>
          </p:cNvPr>
          <p:cNvSpPr txBox="1"/>
          <p:nvPr/>
        </p:nvSpPr>
        <p:spPr>
          <a:xfrm>
            <a:off x="1139137" y="5879410"/>
            <a:ext cx="1592187" cy="369332"/>
          </a:xfrm>
          <a:prstGeom prst="rect">
            <a:avLst/>
          </a:prstGeom>
          <a:noFill/>
        </p:spPr>
        <p:txBody>
          <a:bodyPr wrap="square">
            <a:spAutoFit/>
          </a:bodyPr>
          <a:lstStyle/>
          <a:p>
            <a:r>
              <a:rPr lang="en-US" dirty="0">
                <a:hlinkClick r:id="rId6"/>
              </a:rPr>
              <a:t>Palette Source</a:t>
            </a:r>
            <a:endParaRPr lang="en-US" dirty="0"/>
          </a:p>
        </p:txBody>
      </p:sp>
    </p:spTree>
    <p:extLst>
      <p:ext uri="{BB962C8B-B14F-4D97-AF65-F5344CB8AC3E}">
        <p14:creationId xmlns:p14="http://schemas.microsoft.com/office/powerpoint/2010/main" val="341111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5CC3F-E6AD-AFD9-C24C-15DE52A7F71D}"/>
              </a:ext>
            </a:extLst>
          </p:cNvPr>
          <p:cNvSpPr>
            <a:spLocks noGrp="1"/>
          </p:cNvSpPr>
          <p:nvPr>
            <p:ph type="title"/>
          </p:nvPr>
        </p:nvSpPr>
        <p:spPr/>
        <p:txBody>
          <a:bodyPr/>
          <a:lstStyle/>
          <a:p>
            <a:r>
              <a:rPr lang="en-US" dirty="0"/>
              <a:t>Popular Tools / Resources</a:t>
            </a:r>
          </a:p>
        </p:txBody>
      </p:sp>
      <p:sp>
        <p:nvSpPr>
          <p:cNvPr id="3" name="Content Placeholder 2">
            <a:extLst>
              <a:ext uri="{FF2B5EF4-FFF2-40B4-BE49-F238E27FC236}">
                <a16:creationId xmlns:a16="http://schemas.microsoft.com/office/drawing/2014/main" id="{36C4A0C9-2753-5940-347D-12B83E20A887}"/>
              </a:ext>
            </a:extLst>
          </p:cNvPr>
          <p:cNvSpPr>
            <a:spLocks noGrp="1"/>
          </p:cNvSpPr>
          <p:nvPr>
            <p:ph idx="1"/>
          </p:nvPr>
        </p:nvSpPr>
        <p:spPr>
          <a:xfrm>
            <a:off x="838200" y="1825626"/>
            <a:ext cx="10515600" cy="4013700"/>
          </a:xfrm>
        </p:spPr>
        <p:txBody>
          <a:bodyPr numCol="1">
            <a:normAutofit/>
          </a:bodyPr>
          <a:lstStyle/>
          <a:p>
            <a:r>
              <a:rPr lang="en-US" dirty="0">
                <a:hlinkClick r:id="rId3"/>
              </a:rPr>
              <a:t>Bootstrap</a:t>
            </a:r>
            <a:endParaRPr lang="en-US" dirty="0"/>
          </a:p>
          <a:p>
            <a:r>
              <a:rPr lang="en-US" dirty="0">
                <a:hlinkClick r:id="rId4"/>
              </a:rPr>
              <a:t>Github Pages</a:t>
            </a:r>
            <a:endParaRPr lang="en-US" dirty="0"/>
          </a:p>
          <a:p>
            <a:r>
              <a:rPr lang="en-US" dirty="0">
                <a:hlinkClick r:id="rId5"/>
              </a:rPr>
              <a:t>jQuery</a:t>
            </a:r>
            <a:endParaRPr lang="en-US" dirty="0"/>
          </a:p>
          <a:p>
            <a:r>
              <a:rPr lang="en-US" dirty="0">
                <a:hlinkClick r:id="rId6"/>
              </a:rPr>
              <a:t>MDN</a:t>
            </a:r>
            <a:endParaRPr lang="en-US" dirty="0"/>
          </a:p>
          <a:p>
            <a:r>
              <a:rPr lang="en-US" dirty="0">
                <a:hlinkClick r:id="rId7"/>
              </a:rPr>
              <a:t>Node.js</a:t>
            </a:r>
            <a:endParaRPr lang="en-US" dirty="0"/>
          </a:p>
          <a:p>
            <a:r>
              <a:rPr lang="en-US" dirty="0">
                <a:hlinkClick r:id="rId8"/>
              </a:rPr>
              <a:t>React</a:t>
            </a:r>
            <a:endParaRPr lang="en-US" dirty="0"/>
          </a:p>
          <a:p>
            <a:r>
              <a:rPr lang="en-US" dirty="0">
                <a:hlinkClick r:id="rId9"/>
              </a:rPr>
              <a:t>WebStorm</a:t>
            </a:r>
            <a:endParaRPr lang="en-US" dirty="0"/>
          </a:p>
        </p:txBody>
      </p:sp>
    </p:spTree>
    <p:extLst>
      <p:ext uri="{BB962C8B-B14F-4D97-AF65-F5344CB8AC3E}">
        <p14:creationId xmlns:p14="http://schemas.microsoft.com/office/powerpoint/2010/main" val="10276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82E0A-B9AD-F15C-EE37-95184496C5D9}"/>
              </a:ext>
            </a:extLst>
          </p:cNvPr>
          <p:cNvSpPr>
            <a:spLocks noGrp="1"/>
          </p:cNvSpPr>
          <p:nvPr>
            <p:ph type="title"/>
          </p:nvPr>
        </p:nvSpPr>
        <p:spPr/>
        <p:txBody>
          <a:bodyPr/>
          <a:lstStyle/>
          <a:p>
            <a:r>
              <a:rPr lang="en-US" dirty="0"/>
              <a:t>Hands-On Learning – Rock, Paper, Scissors!</a:t>
            </a:r>
          </a:p>
        </p:txBody>
      </p:sp>
      <p:sp>
        <p:nvSpPr>
          <p:cNvPr id="3" name="Content Placeholder 2">
            <a:extLst>
              <a:ext uri="{FF2B5EF4-FFF2-40B4-BE49-F238E27FC236}">
                <a16:creationId xmlns:a16="http://schemas.microsoft.com/office/drawing/2014/main" id="{C84FC9B1-C145-B47A-4AD0-EA77419E6233}"/>
              </a:ext>
            </a:extLst>
          </p:cNvPr>
          <p:cNvSpPr>
            <a:spLocks noGrp="1"/>
          </p:cNvSpPr>
          <p:nvPr>
            <p:ph idx="1"/>
          </p:nvPr>
        </p:nvSpPr>
        <p:spPr/>
        <p:txBody>
          <a:bodyPr>
            <a:normAutofit fontScale="92500" lnSpcReduction="20000"/>
          </a:bodyPr>
          <a:lstStyle/>
          <a:p>
            <a:pPr marL="0" indent="0">
              <a:buNone/>
            </a:pPr>
            <a:r>
              <a:rPr lang="en-US" dirty="0"/>
              <a:t>1. Download or clone this repository. </a:t>
            </a:r>
            <a:r>
              <a:rPr lang="en-US" dirty="0">
                <a:hlinkClick r:id="rId3"/>
              </a:rPr>
              <a:t>https://github.com/vaasut/rps</a:t>
            </a:r>
            <a:br>
              <a:rPr lang="en-US" dirty="0"/>
            </a:br>
            <a:endParaRPr lang="en-US" dirty="0"/>
          </a:p>
          <a:p>
            <a:pPr marL="0" indent="0">
              <a:buNone/>
            </a:pPr>
            <a:r>
              <a:rPr lang="en-US" dirty="0"/>
              <a:t>2. Open up the HTML, CSS, and JavaScript files in an editor. Open the HTML file in a web browser. Try using the webpage, so you understand how it works.</a:t>
            </a:r>
            <a:br>
              <a:rPr lang="en-US" dirty="0"/>
            </a:br>
            <a:endParaRPr lang="en-US" dirty="0"/>
          </a:p>
          <a:p>
            <a:pPr marL="0" indent="0">
              <a:buNone/>
            </a:pPr>
            <a:r>
              <a:rPr lang="en-US" dirty="0"/>
              <a:t>3.Read through the three files, and make some small changes to them. </a:t>
            </a:r>
            <a:r>
              <a:rPr lang="en-US" b="1" dirty="0"/>
              <a:t>Whenever you change a file, you can reload the webpage to see the changes. </a:t>
            </a:r>
          </a:p>
          <a:p>
            <a:pPr marL="0" indent="0">
              <a:buNone/>
            </a:pPr>
            <a:endParaRPr lang="en-US" b="1" dirty="0"/>
          </a:p>
          <a:p>
            <a:pPr marL="0" indent="0">
              <a:buNone/>
            </a:pPr>
            <a:r>
              <a:rPr lang="en-US" dirty="0"/>
              <a:t>4. Personalize and improve the site. The README file has suggestions to get started.</a:t>
            </a:r>
          </a:p>
        </p:txBody>
      </p:sp>
    </p:spTree>
    <p:extLst>
      <p:ext uri="{BB962C8B-B14F-4D97-AF65-F5344CB8AC3E}">
        <p14:creationId xmlns:p14="http://schemas.microsoft.com/office/powerpoint/2010/main" val="24800145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2099</TotalTime>
  <Words>767</Words>
  <Application>Microsoft Macintosh PowerPoint</Application>
  <PresentationFormat>Widescreen</PresentationFormat>
  <Paragraphs>79</Paragraphs>
  <Slides>13</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Front End Development</vt:lpstr>
      <vt:lpstr>Design - Quick Notes (1)</vt:lpstr>
      <vt:lpstr>Design – Quick Notes (2)</vt:lpstr>
      <vt:lpstr>Design - Make Failure Impossible!</vt:lpstr>
      <vt:lpstr>Simple Web Dev Environment</vt:lpstr>
      <vt:lpstr>HTML: Elements and Tags</vt:lpstr>
      <vt:lpstr>Cascading Style Sheets (CSS)</vt:lpstr>
      <vt:lpstr>Positioning Elements</vt:lpstr>
      <vt:lpstr>JavaScript Functions</vt:lpstr>
      <vt:lpstr>Developer Console</vt:lpstr>
      <vt:lpstr>Colors!</vt:lpstr>
      <vt:lpstr>Popular Tools / Resources</vt:lpstr>
      <vt:lpstr>Hands-On Learning – Rock, Paper, Scissors!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Taneja, Vaasu</dc:creator>
  <cp:lastModifiedBy>Taneja, Vaasu</cp:lastModifiedBy>
  <cp:revision>49</cp:revision>
  <dcterms:created xsi:type="dcterms:W3CDTF">2026-04-13T15:52:23Z</dcterms:created>
  <dcterms:modified xsi:type="dcterms:W3CDTF">2026-04-23T21:15:45Z</dcterms:modified>
</cp:coreProperties>
</file>